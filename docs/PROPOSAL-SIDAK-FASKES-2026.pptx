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3" d="100"/>
          <a:sy n="123" d="100"/>
        </p:scale>
        <p:origin x="720" y="75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aiq Miftakhul Falakh" userId="6015aeb63be469e4" providerId="LiveId" clId="{852F1217-4931-4105-BAE3-3900EF490351}"/>
    <pc:docChg chg="modSld">
      <pc:chgData name="Faiq Miftakhul Falakh" userId="6015aeb63be469e4" providerId="LiveId" clId="{852F1217-4931-4105-BAE3-3900EF490351}" dt="2026-09-06T09:31:06.665" v="36" actId="20577"/>
      <pc:docMkLst>
        <pc:docMk/>
      </pc:docMkLst>
      <pc:sldChg chg="modSp mod">
        <pc:chgData name="Faiq Miftakhul Falakh" userId="6015aeb63be469e4" providerId="LiveId" clId="{852F1217-4931-4105-BAE3-3900EF490351}" dt="2026-09-05T07:45:00.572" v="8" actId="20577"/>
        <pc:sldMkLst>
          <pc:docMk/>
          <pc:sldMk cId="0" sldId="256"/>
        </pc:sldMkLst>
        <pc:spChg chg="mod">
          <ac:chgData name="Faiq Miftakhul Falakh" userId="6015aeb63be469e4" providerId="LiveId" clId="{852F1217-4931-4105-BAE3-3900EF490351}" dt="2026-09-05T07:45:00.572" v="8" actId="20577"/>
          <ac:spMkLst>
            <pc:docMk/>
            <pc:sldMk cId="0" sldId="256"/>
            <ac:spMk id="5" creationId="{00000000-0000-0000-0000-000000000000}"/>
          </ac:spMkLst>
        </pc:spChg>
      </pc:sldChg>
      <pc:sldChg chg="modSp mod">
        <pc:chgData name="Faiq Miftakhul Falakh" userId="6015aeb63be469e4" providerId="LiveId" clId="{852F1217-4931-4105-BAE3-3900EF490351}" dt="2026-09-06T09:28:57.309" v="12" actId="20577"/>
        <pc:sldMkLst>
          <pc:docMk/>
          <pc:sldMk cId="0" sldId="257"/>
        </pc:sldMkLst>
        <pc:spChg chg="mod">
          <ac:chgData name="Faiq Miftakhul Falakh" userId="6015aeb63be469e4" providerId="LiveId" clId="{852F1217-4931-4105-BAE3-3900EF490351}" dt="2026-09-06T09:28:57.309" v="12" actId="20577"/>
          <ac:spMkLst>
            <pc:docMk/>
            <pc:sldMk cId="0" sldId="257"/>
            <ac:spMk id="14" creationId="{00000000-0000-0000-0000-000000000000}"/>
          </ac:spMkLst>
        </pc:spChg>
      </pc:sldChg>
      <pc:sldChg chg="modSp mod">
        <pc:chgData name="Faiq Miftakhul Falakh" userId="6015aeb63be469e4" providerId="LiveId" clId="{852F1217-4931-4105-BAE3-3900EF490351}" dt="2026-09-06T09:29:12.541" v="16" actId="20577"/>
        <pc:sldMkLst>
          <pc:docMk/>
          <pc:sldMk cId="0" sldId="259"/>
        </pc:sldMkLst>
        <pc:spChg chg="mod">
          <ac:chgData name="Faiq Miftakhul Falakh" userId="6015aeb63be469e4" providerId="LiveId" clId="{852F1217-4931-4105-BAE3-3900EF490351}" dt="2026-09-06T09:29:12.541" v="16" actId="20577"/>
          <ac:spMkLst>
            <pc:docMk/>
            <pc:sldMk cId="0" sldId="259"/>
            <ac:spMk id="15" creationId="{00000000-0000-0000-0000-000000000000}"/>
          </ac:spMkLst>
        </pc:spChg>
      </pc:sldChg>
      <pc:sldChg chg="modSp mod">
        <pc:chgData name="Faiq Miftakhul Falakh" userId="6015aeb63be469e4" providerId="LiveId" clId="{852F1217-4931-4105-BAE3-3900EF490351}" dt="2026-09-06T09:29:19.838" v="20" actId="20577"/>
        <pc:sldMkLst>
          <pc:docMk/>
          <pc:sldMk cId="0" sldId="260"/>
        </pc:sldMkLst>
        <pc:spChg chg="mod">
          <ac:chgData name="Faiq Miftakhul Falakh" userId="6015aeb63be469e4" providerId="LiveId" clId="{852F1217-4931-4105-BAE3-3900EF490351}" dt="2026-09-06T09:29:19.838" v="20" actId="20577"/>
          <ac:spMkLst>
            <pc:docMk/>
            <pc:sldMk cId="0" sldId="260"/>
            <ac:spMk id="4" creationId="{00000000-0000-0000-0000-000000000000}"/>
          </ac:spMkLst>
        </pc:spChg>
      </pc:sldChg>
      <pc:sldChg chg="modSp mod">
        <pc:chgData name="Faiq Miftakhul Falakh" userId="6015aeb63be469e4" providerId="LiveId" clId="{852F1217-4931-4105-BAE3-3900EF490351}" dt="2026-09-06T09:29:48.271" v="24" actId="20577"/>
        <pc:sldMkLst>
          <pc:docMk/>
          <pc:sldMk cId="0" sldId="266"/>
        </pc:sldMkLst>
        <pc:spChg chg="mod">
          <ac:chgData name="Faiq Miftakhul Falakh" userId="6015aeb63be469e4" providerId="LiveId" clId="{852F1217-4931-4105-BAE3-3900EF490351}" dt="2026-09-06T09:29:48.271" v="24" actId="20577"/>
          <ac:spMkLst>
            <pc:docMk/>
            <pc:sldMk cId="0" sldId="266"/>
            <ac:spMk id="4" creationId="{00000000-0000-0000-0000-000000000000}"/>
          </ac:spMkLst>
        </pc:spChg>
      </pc:sldChg>
      <pc:sldChg chg="modSp mod">
        <pc:chgData name="Faiq Miftakhul Falakh" userId="6015aeb63be469e4" providerId="LiveId" clId="{852F1217-4931-4105-BAE3-3900EF490351}" dt="2026-09-06T09:30:03.016" v="28" actId="20577"/>
        <pc:sldMkLst>
          <pc:docMk/>
          <pc:sldMk cId="0" sldId="268"/>
        </pc:sldMkLst>
        <pc:spChg chg="mod">
          <ac:chgData name="Faiq Miftakhul Falakh" userId="6015aeb63be469e4" providerId="LiveId" clId="{852F1217-4931-4105-BAE3-3900EF490351}" dt="2026-09-06T09:30:03.016" v="28" actId="20577"/>
          <ac:spMkLst>
            <pc:docMk/>
            <pc:sldMk cId="0" sldId="268"/>
            <ac:spMk id="12" creationId="{00000000-0000-0000-0000-000000000000}"/>
          </ac:spMkLst>
        </pc:spChg>
      </pc:sldChg>
      <pc:sldChg chg="modSp mod">
        <pc:chgData name="Faiq Miftakhul Falakh" userId="6015aeb63be469e4" providerId="LiveId" clId="{852F1217-4931-4105-BAE3-3900EF490351}" dt="2026-09-06T09:30:26.848" v="32" actId="20577"/>
        <pc:sldMkLst>
          <pc:docMk/>
          <pc:sldMk cId="0" sldId="269"/>
        </pc:sldMkLst>
        <pc:spChg chg="mod">
          <ac:chgData name="Faiq Miftakhul Falakh" userId="6015aeb63be469e4" providerId="LiveId" clId="{852F1217-4931-4105-BAE3-3900EF490351}" dt="2026-09-06T09:30:26.848" v="32" actId="20577"/>
          <ac:spMkLst>
            <pc:docMk/>
            <pc:sldMk cId="0" sldId="269"/>
            <ac:spMk id="9" creationId="{00000000-0000-0000-0000-000000000000}"/>
          </ac:spMkLst>
        </pc:spChg>
      </pc:sldChg>
      <pc:sldChg chg="modSp mod">
        <pc:chgData name="Faiq Miftakhul Falakh" userId="6015aeb63be469e4" providerId="LiveId" clId="{852F1217-4931-4105-BAE3-3900EF490351}" dt="2026-09-06T09:31:06.665" v="36" actId="20577"/>
        <pc:sldMkLst>
          <pc:docMk/>
          <pc:sldMk cId="0" sldId="275"/>
        </pc:sldMkLst>
        <pc:spChg chg="mod">
          <ac:chgData name="Faiq Miftakhul Falakh" userId="6015aeb63be469e4" providerId="LiveId" clId="{852F1217-4931-4105-BAE3-3900EF490351}" dt="2026-09-06T09:31:06.665" v="36" actId="20577"/>
          <ac:spMkLst>
            <pc:docMk/>
            <pc:sldMk cId="0" sldId="275"/>
            <ac:spMk id="5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394960"/>
            <a:ext cx="12191695" cy="1463040"/>
          </a:xfrm>
          <a:prstGeom prst="rect">
            <a:avLst/>
          </a:prstGeom>
          <a:solidFill>
            <a:srgbClr val="0A2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640080"/>
            <a:ext cx="91440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9C6EA"/>
                </a:solidFill>
                <a:latin typeface="Segoe UI"/>
              </a:rPr>
              <a:t>BPJS KESEHATAN HEALTHKATHON 2026 · DETECT SMARTER, PROTECT JKN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10515600" cy="9787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lang="en-US" sz="6000" b="1">
                <a:solidFill>
                  <a:srgbClr val="FFFFFF"/>
                </a:solidFill>
                <a:latin typeface="Segoe UI"/>
              </a:rPr>
              <a:t>SIDAK</a:t>
            </a:r>
            <a:endParaRPr sz="6000" b="1" i="0" dirty="0">
              <a:solidFill>
                <a:srgbClr val="FFFFFF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05156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400" b="0" i="0" dirty="0" err="1">
                <a:solidFill>
                  <a:srgbClr val="FFFFFF"/>
                </a:solidFill>
                <a:latin typeface="Segoe UI"/>
              </a:rPr>
              <a:t>Sistem</a:t>
            </a:r>
            <a:r>
              <a:rPr sz="2400" b="0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2400" b="0" i="0" dirty="0" err="1">
                <a:solidFill>
                  <a:srgbClr val="FFFFFF"/>
                </a:solidFill>
                <a:latin typeface="Segoe UI"/>
              </a:rPr>
              <a:t>Deteksi</a:t>
            </a:r>
            <a:r>
              <a:rPr sz="2400" b="0" i="0" dirty="0">
                <a:solidFill>
                  <a:srgbClr val="FFFFFF"/>
                </a:solidFill>
                <a:latin typeface="Segoe UI"/>
              </a:rPr>
              <a:t> Dini Pola </a:t>
            </a:r>
            <a:r>
              <a:rPr sz="2400" b="0" i="0" dirty="0" err="1">
                <a:solidFill>
                  <a:srgbClr val="FFFFFF"/>
                </a:solidFill>
                <a:latin typeface="Segoe UI"/>
              </a:rPr>
              <a:t>Klaim</a:t>
            </a:r>
            <a:r>
              <a:rPr sz="2400" b="0" i="0" dirty="0">
                <a:solidFill>
                  <a:srgbClr val="FFFFFF"/>
                </a:solidFill>
                <a:latin typeface="Segoe UI"/>
              </a:rPr>
              <a:t> Tidak </a:t>
            </a:r>
            <a:r>
              <a:rPr sz="2400" b="0" i="0" dirty="0" err="1">
                <a:solidFill>
                  <a:srgbClr val="FFFFFF"/>
                </a:solidFill>
                <a:latin typeface="Segoe UI"/>
              </a:rPr>
              <a:t>Wajar</a:t>
            </a:r>
            <a:r>
              <a:rPr sz="2400" b="0" i="0" dirty="0">
                <a:solidFill>
                  <a:srgbClr val="FFFFFF"/>
                </a:solidFill>
                <a:latin typeface="Segoe UI"/>
              </a:rPr>
              <a:t> di </a:t>
            </a:r>
            <a:r>
              <a:rPr sz="2400" b="0" i="0" dirty="0" err="1">
                <a:solidFill>
                  <a:srgbClr val="FFFFFF"/>
                </a:solidFill>
                <a:latin typeface="Segoe UI"/>
              </a:rPr>
              <a:t>Fasilitas</a:t>
            </a:r>
            <a:r>
              <a:rPr sz="2400" b="0" i="0" dirty="0">
                <a:solidFill>
                  <a:srgbClr val="FFFFFF"/>
                </a:solidFill>
                <a:latin typeface="Segoe UI"/>
              </a:rPr>
              <a:t> Kesehatan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971800"/>
            <a:ext cx="1051560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0" i="0">
                <a:solidFill>
                  <a:srgbClr val="A9C6EA"/>
                </a:solidFill>
                <a:latin typeface="Segoe UI"/>
              </a:rPr>
              <a:t>Menemukan rumah sakit dan FKTP yang pola klaimnya menyimpang dari rekan sebaya, sebelum kerugian membesar.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840480"/>
            <a:ext cx="3108960" cy="329184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31520" y="3840480"/>
            <a:ext cx="310896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0D366B"/>
                </a:solidFill>
                <a:latin typeface="Segoe UI"/>
              </a:rPr>
              <a:t>Kategori 2 · Fasilitas Kesehatan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977639" y="3840480"/>
            <a:ext cx="6949440" cy="329184"/>
          </a:xfrm>
          <a:prstGeom prst="roundRect">
            <a:avLst>
              <a:gd name="adj" fmla="val 50000"/>
            </a:avLst>
          </a:prstGeom>
          <a:solidFill>
            <a:srgbClr val="A9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977639" y="3840480"/>
            <a:ext cx="6949440" cy="329184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0D366B"/>
                </a:solidFill>
                <a:latin typeface="Segoe UI"/>
              </a:rPr>
              <a:t>Sub-kategori #3 Rujukan · #4 Upcoding · #9 Fragmentasi · #16 Readmisi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438912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Tingkat kematangan: PROTOTYPE. Model dan dashboard sudah berjalan pada Data Sampel BPJS Kesehatan (anonim).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57784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A9C6EA"/>
                </a:solidFill>
                <a:latin typeface="Segoe UI"/>
              </a:rPr>
              <a:t>TIM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852160"/>
            <a:ext cx="54864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[Nama Tim] · [Instansi/Kampus]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[Ketua] · [Anggota 2] · [Anggota 3]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5577840"/>
            <a:ext cx="50292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A9C6EA"/>
                </a:solidFill>
                <a:latin typeface="Segoe UI"/>
              </a:rPr>
              <a:t>KONTAK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83680" y="5852160"/>
            <a:ext cx="502920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[email] · [no. HP]</a:t>
            </a:r>
          </a:p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[link repositori / demo]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RINGKASAN EKSEKUTIF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Satu halaman: masalah, solusi, dampak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82296" cy="3931920"/>
          </a:xfrm>
          <a:prstGeom prst="rect">
            <a:avLst/>
          </a:prstGeom>
          <a:solidFill>
            <a:srgbClr val="B5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53333"/>
                </a:solidFill>
                <a:latin typeface="Segoe UI"/>
              </a:rPr>
              <a:t>MASALAH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91840" cy="338327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Dana JKN defisit Rp 14,61 T (2025) dan diproyeksikan Rp 23 T (2026).</a:t>
            </a:r>
          </a:p>
          <a:p>
            <a:pPr algn="l"/>
            <a:endParaRPr sz="1200" b="0" i="0">
              <a:solidFill>
                <a:srgbClr val="1F242B"/>
              </a:solidFill>
              <a:latin typeface="Segoe UI"/>
            </a:endParaRP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Verifikasi klaim satu per satu hanya mengoreksi 0,82% biaya, karena tiap klaim tampak sah.</a:t>
            </a:r>
          </a:p>
          <a:p>
            <a:pPr algn="l"/>
            <a:endParaRPr sz="1200" b="0" i="0">
              <a:solidFill>
                <a:srgbClr val="1F242B"/>
              </a:solidFill>
              <a:latin typeface="Segoe UI"/>
            </a:endParaRP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Kerugian besar tersembunyi di POLA: rujukan yang tidak perlu, keparahan yang dinaikkan, kunjungan ulang yang dipecah, pasien pulang lalu masuk lagi.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97680" y="146304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297680" y="1463040"/>
            <a:ext cx="82296" cy="393192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480560" y="155448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SOLUSI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1920240"/>
            <a:ext cx="3291840" cy="190205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 dirty="0">
                <a:solidFill>
                  <a:srgbClr val="1F242B"/>
                </a:solidFill>
                <a:latin typeface="Segoe UI"/>
              </a:rPr>
              <a:t>S</a:t>
            </a:r>
            <a:r>
              <a:rPr lang="en-US" sz="1200" b="0" i="0" dirty="0">
                <a:solidFill>
                  <a:srgbClr val="1F242B"/>
                </a:solidFill>
                <a:latin typeface="Segoe UI"/>
              </a:rPr>
              <a:t>IDAK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menghitung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angka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wajar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tiap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faskes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dari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rekan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sebaya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(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kelas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, wilayah,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jenis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kasus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),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lalu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menandai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faskes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yang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jauh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di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atas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angka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wajar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.</a:t>
            </a:r>
          </a:p>
          <a:p>
            <a:pPr algn="l"/>
            <a:endParaRPr sz="1200" b="0" i="0" dirty="0">
              <a:solidFill>
                <a:srgbClr val="1F242B"/>
              </a:solidFill>
              <a:latin typeface="Segoe UI"/>
            </a:endParaRPr>
          </a:p>
          <a:p>
            <a:pPr algn="l"/>
            <a:r>
              <a:rPr sz="1200" b="0" i="0" dirty="0">
                <a:solidFill>
                  <a:srgbClr val="1F242B"/>
                </a:solidFill>
                <a:latin typeface="Segoe UI"/>
              </a:rPr>
              <a:t>4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modul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sesuai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Participant Guide: #3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Rujukan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tidak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sesuai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, #4 Upcoding, #9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Fragmentasi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layanan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, #16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Readmisi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.</a:t>
            </a:r>
          </a:p>
          <a:p>
            <a:pPr algn="l"/>
            <a:endParaRPr sz="1200" b="0" i="0" dirty="0">
              <a:solidFill>
                <a:srgbClr val="1F242B"/>
              </a:solidFill>
              <a:latin typeface="Segoe UI"/>
            </a:endParaRPr>
          </a:p>
          <a:p>
            <a:pPr algn="l"/>
            <a:r>
              <a:rPr sz="1200" b="0" i="0" dirty="0" err="1">
                <a:solidFill>
                  <a:srgbClr val="1F242B"/>
                </a:solidFill>
                <a:latin typeface="Segoe UI"/>
              </a:rPr>
              <a:t>Keluaran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: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antrean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audit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terurut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dan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peta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risiko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untuk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200" b="0" i="0" dirty="0" err="1">
                <a:solidFill>
                  <a:srgbClr val="1F242B"/>
                </a:solidFill>
                <a:latin typeface="Segoe UI"/>
              </a:rPr>
              <a:t>pimpinan</a:t>
            </a:r>
            <a:r>
              <a:rPr sz="1200" b="0" i="0" dirty="0">
                <a:solidFill>
                  <a:srgbClr val="1F242B"/>
                </a:solidFill>
                <a:latin typeface="Segoe UI"/>
              </a:rPr>
              <a:t>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92440" y="1463040"/>
            <a:ext cx="3611880" cy="393192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092440" y="1463040"/>
            <a:ext cx="82296" cy="3931920"/>
          </a:xfrm>
          <a:prstGeom prst="rect">
            <a:avLst/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275319" y="155448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48F63"/>
                </a:solidFill>
                <a:latin typeface="Segoe UI"/>
              </a:rPr>
              <a:t>DAMPAK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75319" y="1920240"/>
            <a:ext cx="3291840" cy="338327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Pada data sampel: potensi koreksi Rp 18,8–27,4 M = 1,2–1,8% biaya FKRTL.</a:t>
            </a:r>
          </a:p>
          <a:p>
            <a:pPr algn="l"/>
            <a:endParaRPr sz="1200" b="0" i="0">
              <a:solidFill>
                <a:srgbClr val="1F242B"/>
              </a:solidFill>
              <a:latin typeface="Segoe UI"/>
            </a:endParaRP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Proyeksi nasional: Rp 2,0–2,9 T per tahun, setara 14–20% defisit 2025.</a:t>
            </a:r>
          </a:p>
          <a:p>
            <a:pPr algn="l"/>
            <a:endParaRPr sz="1200" b="0" i="0">
              <a:solidFill>
                <a:srgbClr val="1F242B"/>
              </a:solidFill>
              <a:latin typeface="Segoe UI"/>
            </a:endParaRP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Audit 10% faskes teratas sudah menangkap 41–59% kelebihan klaim.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F242B"/>
                </a:solidFill>
                <a:latin typeface="Segoe UI"/>
              </a:rPr>
              <a:t>Prinsip: </a:t>
            </a:r>
            <a:r>
              <a:rPr sz="1200" b="0" i="0">
                <a:solidFill>
                  <a:srgbClr val="1F242B"/>
                </a:solidFill>
                <a:latin typeface="Segoe UI"/>
              </a:rPr>
              <a:t>SORAI tidak memvonis fraud. Ia memberi tahu auditor ke mana harus melihat lebih dulu. Keputusan tetap di tangan manusia.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1 · MASALAH &amp; URGENSI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Dana JKN bocor, dan kebocoran terbesar tidak terlihat per klaim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94360" y="1536192"/>
            <a:ext cx="2468879" cy="6789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>
                <a:solidFill>
                  <a:srgbClr val="0D366B"/>
                </a:solidFill>
                <a:latin typeface="Segoe UI"/>
              </a:rPr>
              <a:t>Rp 191,33 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94360" y="2141982"/>
            <a:ext cx="2468879" cy="50977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Beban jaminan kesehatan 2025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46304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383280" y="1536192"/>
            <a:ext cx="2468879" cy="6789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>
                <a:solidFill>
                  <a:srgbClr val="B53333"/>
                </a:solidFill>
                <a:latin typeface="Segoe UI"/>
              </a:rPr>
              <a:t>108,27%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141982"/>
            <a:ext cx="2468879" cy="50977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Rasio klaim terhadap iuran 2025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146304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172200" y="1536192"/>
            <a:ext cx="2468879" cy="6789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>
                <a:solidFill>
                  <a:srgbClr val="B53333"/>
                </a:solidFill>
                <a:latin typeface="Segoe UI"/>
              </a:rPr>
              <a:t>Rp 14,61 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72200" y="2141982"/>
            <a:ext cx="2468879" cy="50977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Defisit arus kas DJS 2025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9680" y="1463040"/>
            <a:ext cx="2651760" cy="123444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961119" y="1536192"/>
            <a:ext cx="2468879" cy="678942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400" b="1" i="0">
                <a:solidFill>
                  <a:srgbClr val="B53333"/>
                </a:solidFill>
                <a:latin typeface="Segoe UI"/>
              </a:rPr>
              <a:t>Rp 23 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61119" y="2141982"/>
            <a:ext cx="2468879" cy="509778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Proyeksi defisit 2026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2926080"/>
            <a:ext cx="548640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D366B"/>
                </a:solidFill>
                <a:latin typeface="Segoe UI"/>
              </a:rPr>
              <a:t>Fraud faskes: besar di taksiran, kecil di pembuktian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3291840"/>
            <a:ext cx="5577840" cy="24688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48F63"/>
                </a:solidFill>
                <a:latin typeface="Segoe UI"/>
              </a:rPr>
              <a:t>▪ </a:t>
            </a:r>
            <a:r>
              <a:rPr sz="1200" b="1">
                <a:solidFill>
                  <a:srgbClr val="1F242B"/>
                </a:solidFill>
                <a:latin typeface="Segoe UI"/>
              </a:rPr>
              <a:t>KPK menaksir </a:t>
            </a:r>
            <a:r>
              <a:rPr sz="1200" b="0">
                <a:solidFill>
                  <a:srgbClr val="1F242B"/>
                </a:solidFill>
                <a:latin typeface="Segoe UI"/>
              </a:rPr>
              <a:t>kerugian fraud JKN sekitar Rp 20 T per tahun.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8F63"/>
                </a:solidFill>
                <a:latin typeface="Segoe UI"/>
              </a:rPr>
              <a:t>▪ </a:t>
            </a:r>
            <a:r>
              <a:rPr sz="1200" b="1">
                <a:solidFill>
                  <a:srgbClr val="1F242B"/>
                </a:solidFill>
                <a:latin typeface="Segoe UI"/>
              </a:rPr>
              <a:t>Yang terbukti: </a:t>
            </a:r>
            <a:r>
              <a:rPr sz="1200" b="0">
                <a:solidFill>
                  <a:srgbClr val="1F242B"/>
                </a:solidFill>
                <a:latin typeface="Segoe UI"/>
              </a:rPr>
              <a:t>Rp 35 M dari 3 rumah sakit (phantom billing, 2024).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8F63"/>
                </a:solidFill>
                <a:latin typeface="Segoe UI"/>
              </a:rPr>
              <a:t>▪ </a:t>
            </a:r>
            <a:r>
              <a:rPr sz="1200" b="1">
                <a:solidFill>
                  <a:srgbClr val="1F242B"/>
                </a:solidFill>
                <a:latin typeface="Segoe UI"/>
              </a:rPr>
              <a:t>Jurangnya </a:t>
            </a:r>
            <a:r>
              <a:rPr sz="1200" b="0">
                <a:solidFill>
                  <a:srgbClr val="1F242B"/>
                </a:solidFill>
                <a:latin typeface="Segoe UI"/>
              </a:rPr>
              <a:t>bukan karena fraud tidak ada, tetapi karena pemeriksaan dilakukan klaim demi klaim, sementara modusnya berupa pola.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8F63"/>
                </a:solidFill>
                <a:latin typeface="Segoe UI"/>
              </a:rPr>
              <a:t>▪ </a:t>
            </a:r>
            <a:r>
              <a:rPr sz="1200" b="1">
                <a:solidFill>
                  <a:srgbClr val="1F242B"/>
                </a:solidFill>
                <a:latin typeface="Segoe UI"/>
              </a:rPr>
              <a:t>Modus berbasis pola </a:t>
            </a:r>
            <a:r>
              <a:rPr sz="1200" b="0">
                <a:solidFill>
                  <a:srgbClr val="1F242B"/>
                </a:solidFill>
                <a:latin typeface="Segoe UI"/>
              </a:rPr>
              <a:t>dalam Participant Guide: rujukan tidak sesuai (#3), upcoding (#4), fragmentasi layanan (#9), readmisi (#16).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2926080"/>
            <a:ext cx="5394960" cy="2743200"/>
          </a:xfrm>
          <a:prstGeom prst="roundRect">
            <a:avLst>
              <a:gd name="adj" fmla="val 6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6309360" y="2926080"/>
            <a:ext cx="82296" cy="2743200"/>
          </a:xfrm>
          <a:prstGeom prst="rect">
            <a:avLst/>
          </a:prstGeom>
          <a:solidFill>
            <a:srgbClr val="C88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6492240" y="3017520"/>
            <a:ext cx="507492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C88A0A"/>
                </a:solidFill>
                <a:latin typeface="Segoe UI"/>
              </a:rPr>
              <a:t>Mengapa mendesak sekarang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2240" y="3383280"/>
            <a:ext cx="5074920" cy="21945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Iuran belum naik; setiap 1% koreksi klaim setara ±Rp 1,9 T.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Verifikator terbatas, sementara klaim FKRTL lebih dari 100 juta per tahun.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Data sudah ada di V-Claim dan P-Care; yang kurang adalah alat untuk membaca pola lintas faskes.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Deteksi dini lebih murah daripada menagih kembali setelah audit.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852160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5F666E"/>
                </a:solidFill>
                <a:latin typeface="Segoe UI"/>
              </a:rPr>
              <a:t>Sumber: Laporan Keuangan DJS 2025 (BPJS Kesehatan); pernyataan KPK tentang taksiran fraud JKN; rilis KPK–BPJS kasus 3 RS (2024); proyeksi defisit 2026 (DJSN/Kemenkeu, media nasional).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1 · MASALAH &amp; URGENSI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Kenapa verifikasi per klaim tidak cukup: setiap klaim terlihat sah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82296" cy="214884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Bukti dari data sampel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166360" cy="1600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Verifikator mengoreksi 1.592 klaim senilai Rp 1,97 M = 0,82% biaya FKRTL.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Padahal pola menyimpang ditemukan di ratusan faskes sekaligus.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Contoh: RS dengan tarif rata-rata naik karena tingkat keparahan lebih tinggi dari rekan sekelas, tanpa satu pun klaim yang salah secara administratif.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82296" cy="2148840"/>
          </a:xfrm>
          <a:prstGeom prst="rect">
            <a:avLst/>
          </a:prstGeom>
          <a:solidFill>
            <a:srgbClr val="B5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53333"/>
                </a:solidFill>
                <a:latin typeface="Segoe UI"/>
              </a:rPr>
              <a:t>Jebakan aturan sederhana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166360" cy="1600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Ambang tetap (misal lama rawat &gt; 7 hari) menandai 81,5% RS Kelas A: bukan fraud, kasus mereka memang berat.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Dengan pembanding rekan sebaya, rasio O/E severity RS Kelas A hanya 1,022: normal.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▪ Pelajaran: pembanding harus adil (kelas, wilayah, jenis kasus), bukan satu ambang untuk semua.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94760"/>
            <a:ext cx="10972800" cy="270843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 dirty="0" err="1">
                <a:solidFill>
                  <a:srgbClr val="0D366B"/>
                </a:solidFill>
                <a:latin typeface="Segoe UI"/>
              </a:rPr>
              <a:t>Empat</a:t>
            </a:r>
            <a:r>
              <a:rPr sz="1400" b="1" i="0" dirty="0">
                <a:solidFill>
                  <a:srgbClr val="0D366B"/>
                </a:solidFill>
                <a:latin typeface="Segoe UI"/>
              </a:rPr>
              <a:t> modus yang </a:t>
            </a:r>
            <a:r>
              <a:rPr sz="1400" b="1" i="0" dirty="0" err="1">
                <a:solidFill>
                  <a:srgbClr val="0D366B"/>
                </a:solidFill>
                <a:latin typeface="Segoe UI"/>
              </a:rPr>
              <a:t>diangkat</a:t>
            </a:r>
            <a:r>
              <a:rPr sz="1400" b="1" i="0" dirty="0">
                <a:solidFill>
                  <a:srgbClr val="0D366B"/>
                </a:solidFill>
                <a:latin typeface="Segoe UI"/>
              </a:rPr>
              <a:t> S</a:t>
            </a:r>
            <a:r>
              <a:rPr lang="en-US" sz="1400" b="1" i="0" dirty="0">
                <a:solidFill>
                  <a:srgbClr val="0D366B"/>
                </a:solidFill>
                <a:latin typeface="Segoe UI"/>
              </a:rPr>
              <a:t>IDAK</a:t>
            </a:r>
            <a:r>
              <a:rPr sz="1400" b="1" i="0" dirty="0">
                <a:solidFill>
                  <a:srgbClr val="0D366B"/>
                </a:solidFill>
                <a:latin typeface="Segoe UI"/>
              </a:rPr>
              <a:t>: </a:t>
            </a:r>
            <a:r>
              <a:rPr sz="1400" b="1" i="0" dirty="0" err="1">
                <a:solidFill>
                  <a:srgbClr val="0D366B"/>
                </a:solidFill>
                <a:latin typeface="Segoe UI"/>
              </a:rPr>
              <a:t>semuanya</a:t>
            </a:r>
            <a:r>
              <a:rPr sz="14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0D366B"/>
                </a:solidFill>
                <a:latin typeface="Segoe UI"/>
              </a:rPr>
              <a:t>pola</a:t>
            </a:r>
            <a:r>
              <a:rPr sz="1400" b="1" i="0" dirty="0">
                <a:solidFill>
                  <a:srgbClr val="0D366B"/>
                </a:solidFill>
                <a:latin typeface="Segoe UI"/>
              </a:rPr>
              <a:t>, </a:t>
            </a:r>
            <a:r>
              <a:rPr sz="1400" b="1" i="0" dirty="0" err="1">
                <a:solidFill>
                  <a:srgbClr val="0D366B"/>
                </a:solidFill>
                <a:latin typeface="Segoe UI"/>
              </a:rPr>
              <a:t>bukan</a:t>
            </a:r>
            <a:r>
              <a:rPr sz="14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0D366B"/>
                </a:solidFill>
                <a:latin typeface="Segoe UI"/>
              </a:rPr>
              <a:t>klaim</a:t>
            </a:r>
            <a:r>
              <a:rPr sz="14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1400" b="1" i="0" dirty="0" err="1">
                <a:solidFill>
                  <a:srgbClr val="0D366B"/>
                </a:solidFill>
                <a:latin typeface="Segoe UI"/>
              </a:rPr>
              <a:t>tunggal</a:t>
            </a:r>
            <a:endParaRPr sz="1400" b="1" i="0" dirty="0">
              <a:solidFill>
                <a:srgbClr val="0D366B"/>
              </a:solidFill>
              <a:latin typeface="Segoe UI"/>
            </a:endParaRP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160520"/>
          <a:ext cx="111556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74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Modus (nomor Participant Guide)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Apa yang terjadi di lapangan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Kenapa lolos verifikasi per klaim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#3 Rujukan tidak sesuai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FKTP merujuk flu, konjungtivitis, gangguan refraksi ke 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Surat rujukan lengkap dan sah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#4 Manipulasi diagnosis / upcoding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Keparahan kasus dinaikkan agar tarif INA-CBG lebih tinggi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Kode diagnosis valid, resume medis mendukung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#9 Fragmentasi layanan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Kontrol ulang dipecah menjadi lebih banyak kunjungan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Tiap kunjungan punya SEP dan tindakan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#16 Readmisi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Pasien dipulangkan lalu dirawat lagi sebagai episode baru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Dua SEP terpisah, keduanya sah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2 · SOLUSI &amp; KEUNGGULAN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85561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 dirty="0">
                <a:solidFill>
                  <a:srgbClr val="0D366B"/>
                </a:solidFill>
                <a:latin typeface="Segoe UI"/>
              </a:rPr>
              <a:t>S</a:t>
            </a:r>
            <a:r>
              <a:rPr lang="en-US" sz="2600" b="1" i="0" dirty="0">
                <a:solidFill>
                  <a:srgbClr val="0D366B"/>
                </a:solidFill>
                <a:latin typeface="Segoe UI"/>
              </a:rPr>
              <a:t>IDAK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: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bandingkan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tiap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faskes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dengan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rekan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sebayanya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,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lalu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urutkan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siapa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yang paling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menyimpang</a:t>
            </a:r>
            <a:endParaRPr sz="2600" b="1" i="0" dirty="0">
              <a:solidFill>
                <a:srgbClr val="0D366B"/>
              </a:solidFill>
              <a:latin typeface="Segoe UI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2121408" cy="292608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40080" y="1737360"/>
            <a:ext cx="457200" cy="457200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73736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286000"/>
            <a:ext cx="184708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D366B"/>
                </a:solidFill>
                <a:latin typeface="Segoe UI"/>
              </a:rPr>
              <a:t>Data klaim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651760"/>
            <a:ext cx="1847088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FKRTL + FKTP + kepesertaan dari Data Sampel BPJS, tanpa identitas peserta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606040" y="2926080"/>
            <a:ext cx="17373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2761487" y="1600200"/>
            <a:ext cx="2121408" cy="292608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2898647" y="1737360"/>
            <a:ext cx="457200" cy="457200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2898647" y="173736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898647" y="2286000"/>
            <a:ext cx="184708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D366B"/>
                </a:solidFill>
                <a:latin typeface="Segoe UI"/>
              </a:rPr>
              <a:t>Angka wajar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898647" y="2651760"/>
            <a:ext cx="1847088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Model ML memperkirakan berapa yang seharusnya terjadi di tiap faskes: rujukan, severity, kunjungan, readmisi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864608" y="2926080"/>
            <a:ext cx="17373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ounded Rectangle 18"/>
          <p:cNvSpPr/>
          <p:nvPr/>
        </p:nvSpPr>
        <p:spPr>
          <a:xfrm>
            <a:off x="5020055" y="1600200"/>
            <a:ext cx="2121408" cy="292608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Oval 19"/>
          <p:cNvSpPr/>
          <p:nvPr/>
        </p:nvSpPr>
        <p:spPr>
          <a:xfrm>
            <a:off x="5157216" y="1737360"/>
            <a:ext cx="457200" cy="457200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5157216" y="173736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57216" y="2286000"/>
            <a:ext cx="184708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D366B"/>
                </a:solidFill>
                <a:latin typeface="Segoe UI"/>
              </a:rPr>
              <a:t>O/E &amp; z-score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57216" y="2651760"/>
            <a:ext cx="1847088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Bandingkan Observed vs Expected; tandai bila O/E &gt; 1,05 dan z &gt; 1,96 (signifikan, bukan kebetulan)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7123175" y="2926080"/>
            <a:ext cx="17373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ounded Rectangle 24"/>
          <p:cNvSpPr/>
          <p:nvPr/>
        </p:nvSpPr>
        <p:spPr>
          <a:xfrm>
            <a:off x="7278623" y="1600200"/>
            <a:ext cx="2121408" cy="292608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Oval 25"/>
          <p:cNvSpPr/>
          <p:nvPr/>
        </p:nvSpPr>
        <p:spPr>
          <a:xfrm>
            <a:off x="7415783" y="1737360"/>
            <a:ext cx="457200" cy="457200"/>
          </a:xfrm>
          <a:prstGeom prst="ellipse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7415783" y="173736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415783" y="2286000"/>
            <a:ext cx="184708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D366B"/>
                </a:solidFill>
                <a:latin typeface="Segoe UI"/>
              </a:rPr>
              <a:t>Antrean audit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15783" y="2651760"/>
            <a:ext cx="1847088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Urutkan faskes berdasarkan kelebihan rupiah; 10% teratas = 41–59% kelebihan</a:t>
            </a:r>
          </a:p>
        </p:txBody>
      </p:sp>
      <p:sp>
        <p:nvSpPr>
          <p:cNvPr id="30" name="Right Arrow 29"/>
          <p:cNvSpPr/>
          <p:nvPr/>
        </p:nvSpPr>
        <p:spPr>
          <a:xfrm>
            <a:off x="9381744" y="2926080"/>
            <a:ext cx="173736" cy="27432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Rounded Rectangle 30"/>
          <p:cNvSpPr/>
          <p:nvPr/>
        </p:nvSpPr>
        <p:spPr>
          <a:xfrm>
            <a:off x="9537192" y="1600200"/>
            <a:ext cx="2121408" cy="292608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Oval 31"/>
          <p:cNvSpPr/>
          <p:nvPr/>
        </p:nvSpPr>
        <p:spPr>
          <a:xfrm>
            <a:off x="9674352" y="1737360"/>
            <a:ext cx="457200" cy="457200"/>
          </a:xfrm>
          <a:prstGeom prst="ellipse">
            <a:avLst/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9674352" y="1737360"/>
            <a:ext cx="45720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674352" y="2286000"/>
            <a:ext cx="184708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D366B"/>
                </a:solidFill>
                <a:latin typeface="Segoe UI"/>
              </a:rPr>
              <a:t>Keputusan manusia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74352" y="2651760"/>
            <a:ext cx="1847088" cy="18288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Verifikator/TKMKB memeriksa; hasil audit kembali melatih model (human-in-the-loop)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02920" y="4709160"/>
            <a:ext cx="11155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400" b="1" i="0">
                <a:solidFill>
                  <a:srgbClr val="0D366B"/>
                </a:solidFill>
                <a:latin typeface="Segoe UI"/>
              </a:rPr>
              <a:t>Apa yang membuatnya berbeda dari sistem yang ada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5074920"/>
            <a:ext cx="1115568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200" b="1">
                <a:solidFill>
                  <a:srgbClr val="148F63"/>
                </a:solidFill>
                <a:latin typeface="Segoe UI"/>
              </a:rPr>
              <a:t>▪ </a:t>
            </a:r>
            <a:r>
              <a:rPr sz="1200" b="1">
                <a:solidFill>
                  <a:srgbClr val="1F242B"/>
                </a:solidFill>
                <a:latin typeface="Segoe UI"/>
              </a:rPr>
              <a:t>Bukan aturan ambang tetap: </a:t>
            </a:r>
            <a:r>
              <a:rPr sz="1200" b="0">
                <a:solidFill>
                  <a:srgbClr val="1F242B"/>
                </a:solidFill>
                <a:latin typeface="Segoe UI"/>
              </a:rPr>
              <a:t>angka wajar dihitung per faskes dengan memperhitungkan kelas RS, wilayah, usia pasien, dan jenis kasus, sehingga RS rujukan tidak dihukum karena kasusnya berat.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8F63"/>
                </a:solidFill>
                <a:latin typeface="Segoe UI"/>
              </a:rPr>
              <a:t>▪ </a:t>
            </a:r>
            <a:r>
              <a:rPr sz="1200" b="1">
                <a:solidFill>
                  <a:srgbClr val="1F242B"/>
                </a:solidFill>
                <a:latin typeface="Segoe UI"/>
              </a:rPr>
              <a:t>Bukan kotak hitam: </a:t>
            </a:r>
            <a:r>
              <a:rPr sz="1200" b="0">
                <a:solidFill>
                  <a:srgbClr val="1F242B"/>
                </a:solidFill>
                <a:latin typeface="Segoe UI"/>
              </a:rPr>
              <a:t>setiap tanda disertai angka O/E, selisih rupiah, dan diagnosis penyumbang terbesar; auditor bisa memverifikasi sendiri.</a:t>
            </a:r>
          </a:p>
          <a:p>
            <a:pPr>
              <a:spcAft>
                <a:spcPts val="400"/>
              </a:spcAft>
            </a:pPr>
            <a:r>
              <a:rPr sz="1200" b="1">
                <a:solidFill>
                  <a:srgbClr val="148F63"/>
                </a:solidFill>
                <a:latin typeface="Segoe UI"/>
              </a:rPr>
              <a:t>▪ </a:t>
            </a:r>
            <a:r>
              <a:rPr sz="1200" b="1">
                <a:solidFill>
                  <a:srgbClr val="1F242B"/>
                </a:solidFill>
                <a:latin typeface="Segoe UI"/>
              </a:rPr>
              <a:t>Satu mesin, empat modus: </a:t>
            </a:r>
            <a:r>
              <a:rPr sz="1200" b="0">
                <a:solidFill>
                  <a:srgbClr val="1F242B"/>
                </a:solidFill>
                <a:latin typeface="Segoe UI"/>
              </a:rPr>
              <a:t>kerangka O/E yang sama dipakai untuk #3, #4, #9, #16, sehingga mudah diperluas ke modus lain di Participant Guide.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2 · SOLUSI &amp; KEUNGGULAN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Empat keunggulan yang bisa diuji, bukan sekadar klaim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82296" cy="22860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Adil: pembanding rekan sebaya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1663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Setiap RS dibandingkan dengan RS sekelas, di wilayah serupa, untuk campuran kasus serupa. RS Kelas A tidak ditandai hanya karena pasiennya lebih berat (O/E severity 1,022, normal).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Setiap FKTP dibandingkan dengan FKTP lain di kabupaten yang sama.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82296" cy="2286000"/>
          </a:xfrm>
          <a:prstGeom prst="rect">
            <a:avLst/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48F63"/>
                </a:solidFill>
                <a:latin typeface="Segoe UI"/>
              </a:rPr>
              <a:t>Terbukti lebih tajam dari aturan lama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1663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Readmisi: model ML AUC 0,814 vs pengelompokan manual 0,755; 10% pasien berisiko tertinggi menangkap 41,4% readmisi (vs 31,0%).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Severity: model klinis memprediksi tingkat keparahan dengan AUC 0,842 dan akurasi 82%.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39319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502920" y="3931920"/>
            <a:ext cx="82296" cy="2286000"/>
          </a:xfrm>
          <a:prstGeom prst="rect">
            <a:avLst/>
          </a:prstGeom>
          <a:solidFill>
            <a:srgbClr val="C88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85800" y="4023359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C88A0A"/>
                </a:solidFill>
                <a:latin typeface="Segoe UI"/>
              </a:rPr>
              <a:t>Stabil: sinyal bertahan dari waktu ke waktu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389120"/>
            <a:ext cx="51663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Diuji dengan membagi data dua paruh: peringkat kabupaten dan RS tetap konsisten (korelasi 0,49 hingga 0,82 tergantung modul).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Faskes yang ditandai tahun ini 46% masih ditandai tahun berikutnya: bukan noise, melainkan kebiasaan.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3931920"/>
            <a:ext cx="5486400" cy="228600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6217920" y="3931920"/>
            <a:ext cx="82296" cy="2286000"/>
          </a:xfrm>
          <a:prstGeom prst="rect">
            <a:avLst/>
          </a:prstGeom>
          <a:solidFill>
            <a:srgbClr val="B5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6400800" y="4023359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53333"/>
                </a:solidFill>
                <a:latin typeface="Segoe UI"/>
              </a:rPr>
              <a:t>Dapat dijelaskan dan dapat diaudit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00800" y="4389120"/>
            <a:ext cx="51663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Tiap tanda datang dengan angka Observed, Expected, selisih rupiah, dan 3 diagnosis penyumbang terbesar.</a:t>
            </a:r>
          </a:p>
          <a:p>
            <a:pPr algn="l"/>
            <a:r>
              <a:rPr sz="1200" b="0" i="0">
                <a:solidFill>
                  <a:srgbClr val="1F242B"/>
                </a:solidFill>
                <a:latin typeface="Segoe UI"/>
              </a:rPr>
              <a:t>Tidak ada skor misterius. Auditor bisa membuka klaim di balik angka dan memutuskan sendiri.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3 · MODUL #3 · RUJUKAN TIDAK SESUAI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FKTP merujuk kasus ringan yang seharusnya selesai di FKTP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pic>
        <p:nvPicPr>
          <p:cNvPr id="7" name="Picture 6" descr="c1_rr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675120" cy="35398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4630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53619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B53333"/>
                </a:solidFill>
                <a:latin typeface="Segoe UI"/>
              </a:rPr>
              <a:t>7,56%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9169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Rasio rujukan non-spesialistik (RRNS) 52 kode ringan; ambang regulasi 2%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4630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53619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B53333"/>
                </a:solidFill>
                <a:latin typeface="Segoe UI"/>
              </a:rPr>
              <a:t>29,0%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09169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Rujukan ringan yang terbukti sia-sia: RS hanya menangani rawat jalan, tanpa tindakan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743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281635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48F63"/>
                </a:solidFill>
                <a:latin typeface="Segoe UI"/>
              </a:rPr>
              <a:t>6,3%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37185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Angka sia-sia untuk rujukan spesialistik (pembanding: 4,6× lebih rendah)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743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281635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0D366B"/>
                </a:solidFill>
                <a:latin typeface="Segoe UI"/>
              </a:rPr>
              <a:t>2,1%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37185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RRNS terbaik: Kab. Pacitan. Terburuk: Kota Solok 20,1%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069080"/>
            <a:ext cx="42976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Cara ukur: </a:t>
            </a:r>
            <a:r>
              <a:rPr sz="1050" b="0">
                <a:solidFill>
                  <a:srgbClr val="1F242B"/>
                </a:solidFill>
                <a:latin typeface="Segoe UI"/>
              </a:rPr>
              <a:t>rujukan FKTP ditautkan ke klaim RS (100% cocok pada 1,0 juta klaim). Rujukan dianggap sia-sia bila RS memberi diagnosis ringan yang sama, rawat jalan, tanpa tindakan khusus.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Sinyal geografis: </a:t>
            </a:r>
            <a:r>
              <a:rPr sz="1050" b="0">
                <a:solidFill>
                  <a:srgbClr val="1F242B"/>
                </a:solidFill>
                <a:latin typeface="Segoe UI"/>
              </a:rPr>
              <a:t>kabupaten terburuk 2,6× kabupaten terbaik; 10% FKTP teratas memegang 40% rujukan ringan.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Nilai: </a:t>
            </a:r>
            <a:r>
              <a:rPr sz="1050" b="0">
                <a:solidFill>
                  <a:srgbClr val="1F242B"/>
                </a:solidFill>
                <a:latin typeface="Segoe UI"/>
              </a:rPr>
              <a:t>Rp 1,4 M terbukti sia-sia; Rp 9,9 M bila RRNS ditekan ke ambang 2%.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6675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5F666E"/>
                </a:solidFill>
                <a:latin typeface="Segoe UI"/>
              </a:rPr>
              <a:t>Grafik: RRNS 365 kabupaten pada data sampel, diurutkan. Garis hijau = ambang 2% Kapitasi Berbasis Kinerja; garis biru = rata-rata nasional 7,56%. Hampir semua kabupaten di atas ambang.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3 · MODUL #4 · UPCODING SEVERITY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Tingkat keparahan dinaikkan agar tarif INA-CBG lebih tinggi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pic>
        <p:nvPicPr>
          <p:cNvPr id="7" name="Picture 6" descr="s2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5712821" cy="3749039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400800" y="14630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92240" y="1536192"/>
            <a:ext cx="23774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0D366B"/>
                </a:solidFill>
                <a:latin typeface="Segoe UI"/>
              </a:rPr>
              <a:t>1,89×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91690"/>
            <a:ext cx="23774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Tarif severity III vs severity I untuk kasus yang sama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98280" y="146304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189719" y="1536192"/>
            <a:ext cx="23774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0D366B"/>
                </a:solidFill>
                <a:latin typeface="Segoe UI"/>
              </a:rPr>
              <a:t>Rp 1,23 jt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89719" y="2091690"/>
            <a:ext cx="23774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Kenaikan tarif per 1 tingkat severity (rata-rata)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7432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6492240" y="2816352"/>
            <a:ext cx="23774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48F63"/>
                </a:solidFill>
                <a:latin typeface="Segoe UI"/>
              </a:rPr>
              <a:t>AUC 0,842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3371850"/>
            <a:ext cx="23774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Model klinis memprediksi severity dari diagnosis, usia, prosedur; akurasi 82%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98280" y="2743200"/>
            <a:ext cx="2560320" cy="11430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89719" y="2816352"/>
            <a:ext cx="23774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B53333"/>
                </a:solidFill>
                <a:latin typeface="Segoe UI"/>
              </a:rPr>
              <a:t>22 dari 110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9719" y="3371850"/>
            <a:ext cx="23774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RS dengan severity nyata jauh di atas prediksi (O/E &gt; 1,05 dan z &gt; 1,96)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069080"/>
            <a:ext cx="530352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Cara ukur: </a:t>
            </a:r>
            <a:r>
              <a:rPr sz="1050" b="0">
                <a:solidFill>
                  <a:srgbClr val="1F242B"/>
                </a:solidFill>
                <a:latin typeface="Segoe UI"/>
              </a:rPr>
              <a:t>model memperkirakan severity yang wajar dari diagnosis utama, sekunder, prosedur, dan usia. Selisih severity nyata vs prediksi dikalikan tarif menjadi kelebihan rupiah.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Adil terhadap RS besar: </a:t>
            </a:r>
            <a:r>
              <a:rPr sz="1050" b="0">
                <a:solidFill>
                  <a:srgbClr val="1F242B"/>
                </a:solidFill>
                <a:latin typeface="Segoe UI"/>
              </a:rPr>
              <a:t>O/E per kelas RS 0,978–1,022, artinya RS Kelas A tidak dihukum karena kasus berat.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Nilai: </a:t>
            </a:r>
            <a:r>
              <a:rPr sz="1050" b="0">
                <a:solidFill>
                  <a:srgbClr val="1F242B"/>
                </a:solidFill>
                <a:latin typeface="Segoe UI"/>
              </a:rPr>
              <a:t>Rp 2,20 M kelebihan pada sampel (0,14%); 1% RS teratas memegang 32,8% kelebihan.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303520"/>
            <a:ext cx="57607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5F666E"/>
                </a:solidFill>
                <a:latin typeface="Segoe UI"/>
              </a:rPr>
              <a:t>Grafik: funnel plot. Tiap titik = 1 RS; sumbu tegak = rasio O/E severity; garis = batas kepercayaan 95%. Titik merah di atas garis = RS yang ditandai.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3 · MODUL #9 · FRAGMENTASI LAYANAN (KONTROL ULANG BERLEBIH)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Kunjungan kontrol dipecah lebih banyak daripada rekan sebaya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pic>
        <p:nvPicPr>
          <p:cNvPr id="7" name="Picture 6" descr="c3_kontro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675120" cy="35398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4630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53619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B53333"/>
                </a:solidFill>
                <a:latin typeface="Segoe UI"/>
              </a:rPr>
              <a:t>342 / 1.052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9169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RS ditandai dari seluruh RS yang dinilai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4630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53619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B53333"/>
                </a:solidFill>
                <a:latin typeface="Segoe UI"/>
              </a:rPr>
              <a:t>38.445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09169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Kunjungan kontrol berlebih di atas angka wajar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743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281635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0D366B"/>
                </a:solidFill>
                <a:latin typeface="Segoe UI"/>
              </a:rPr>
              <a:t>Rp 11,69 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37185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Kelebihan biaya pada sampel = 0,76% biaya FKRTL; modul terbesar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743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281635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48F63"/>
                </a:solidFill>
                <a:latin typeface="Segoe UI"/>
              </a:rPr>
              <a:t>58,8%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37185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Kelebihan yang tertangkap bila audit 10% RS teratas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069080"/>
            <a:ext cx="42976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Cara ukur: </a:t>
            </a:r>
            <a:r>
              <a:rPr sz="1050" b="0">
                <a:solidFill>
                  <a:srgbClr val="1F242B"/>
                </a:solidFill>
                <a:latin typeface="Segoe UI"/>
              </a:rPr>
              <a:t>untuk tiap pasien-diagnosis, hitung kunjungan rawat jalan lanjutan dalam 90 hari. Angka wajar dari RS sekelas dengan kasus serupa; kelebihan dikalikan Rp 304 ribu per kunjungan.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Sebarannya lebar: </a:t>
            </a:r>
            <a:r>
              <a:rPr sz="1050" b="0">
                <a:solidFill>
                  <a:srgbClr val="1F242B"/>
                </a:solidFill>
                <a:latin typeface="Segoe UI"/>
              </a:rPr>
              <a:t>O/E median 0,85, tetapi 10% RS teratas di atas 1,78, hampir dua kali angka wajar.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Kaitan guide: </a:t>
            </a:r>
            <a:r>
              <a:rPr sz="1050" b="0">
                <a:solidFill>
                  <a:srgbClr val="1F242B"/>
                </a:solidFill>
                <a:latin typeface="Segoe UI"/>
              </a:rPr>
              <a:t>#9 Services unbundling / fragmentation: satu episode dipecah menjadi banyak tagihan.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6675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5F666E"/>
                </a:solidFill>
                <a:latin typeface="Segoe UI"/>
              </a:rPr>
              <a:t>Grafik: funnel plot O/E kontrol ulang vs jumlah kasus per RS. Titik merah = 342 RS di atas batas kepercayaan 95% dan O/E &gt; 1,05.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3 · MODUL #16 · READMISI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Pasien dipulangkan, lalu dirawat inap lagi dalam 30 hari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pic>
        <p:nvPicPr>
          <p:cNvPr id="7" name="Picture 6" descr="c4_readmis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63040"/>
            <a:ext cx="6675120" cy="3539836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406640" y="14630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498079" y="153619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0D366B"/>
                </a:solidFill>
                <a:latin typeface="Segoe UI"/>
              </a:rPr>
              <a:t>13,6%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79" y="209169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Angka readmisi 30 hari pada sampel rawat inap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601200" y="146304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92640" y="153619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48F63"/>
                </a:solidFill>
                <a:latin typeface="Segoe UI"/>
              </a:rPr>
              <a:t>AUC 0,814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92640" y="209169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Model risiko readmisi (GBM) vs 0,755 pengelompokan manual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406640" y="2743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498079" y="281635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148F63"/>
                </a:solidFill>
                <a:latin typeface="Segoe UI"/>
              </a:rPr>
              <a:t>41,4%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98079" y="337185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Readmisi tertangkap di 10% pasien berisiko tertinggi (vs 31,0%)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601200" y="2743200"/>
            <a:ext cx="2103120" cy="1143000"/>
          </a:xfrm>
          <a:prstGeom prst="roundRect">
            <a:avLst>
              <a:gd name="adj" fmla="val 8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92640" y="2816352"/>
            <a:ext cx="1920239" cy="62865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2200" b="1" i="0">
                <a:solidFill>
                  <a:srgbClr val="B53333"/>
                </a:solidFill>
                <a:latin typeface="Segoe UI"/>
              </a:rPr>
              <a:t>57 / 339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692640" y="3371850"/>
            <a:ext cx="1920239" cy="46862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RS dengan readmisi nyata di atas prediksi (O/E &gt; 1,05 dan z &gt; 1,96)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069080"/>
            <a:ext cx="4297680" cy="20116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Dua kegunaan: </a:t>
            </a:r>
            <a:r>
              <a:rPr sz="1050" b="0">
                <a:solidFill>
                  <a:srgbClr val="1F242B"/>
                </a:solidFill>
                <a:latin typeface="Segoe UI"/>
              </a:rPr>
              <a:t>(1) pencegahan: pasien risiko tinggi diberi tindak lanjut; (2) pengawasan: RS dengan readmisi jauh di atas prediksi diperiksa apakah pemulangan terlalu dini atau episode dipecah.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Adil: </a:t>
            </a:r>
            <a:r>
              <a:rPr sz="1050" b="0">
                <a:solidFill>
                  <a:srgbClr val="1F242B"/>
                </a:solidFill>
                <a:latin typeface="Segoe UI"/>
              </a:rPr>
              <a:t>prediksi memperhitungkan usia, diagnosis, lama rawat, riwayat kunjungan, kelas RS.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1">
                <a:solidFill>
                  <a:srgbClr val="1F242B"/>
                </a:solidFill>
                <a:latin typeface="Segoe UI"/>
              </a:rPr>
              <a:t>Nilai: </a:t>
            </a:r>
            <a:r>
              <a:rPr sz="1050" b="0">
                <a:solidFill>
                  <a:srgbClr val="1F242B"/>
                </a:solidFill>
                <a:latin typeface="Segoe UI"/>
              </a:rPr>
              <a:t>Rp 3,53 M kelebihan readmisi pada sampel (0,23%).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257800"/>
            <a:ext cx="6675120" cy="8229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5F666E"/>
                </a:solidFill>
                <a:latin typeface="Segoe UI"/>
              </a:rPr>
              <a:t>Grafik: kalibrasi per desil. Batang = readmisi nyata, garis = prediksi model. Semakin dekat, semakin dapat dipercaya untuk memberi peringkat pasien dan RS.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4 · PENDEKATAN TEKNIS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455509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 dirty="0">
                <a:solidFill>
                  <a:srgbClr val="0D366B"/>
                </a:solidFill>
                <a:latin typeface="Segoe UI"/>
              </a:rPr>
              <a:t>Alur S</a:t>
            </a:r>
            <a:r>
              <a:rPr lang="en-US" sz="2600" b="1" i="0" dirty="0">
                <a:solidFill>
                  <a:srgbClr val="0D366B"/>
                </a:solidFill>
                <a:latin typeface="Segoe UI"/>
              </a:rPr>
              <a:t>IDAK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: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dari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klaim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mentah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ke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</a:t>
            </a:r>
            <a:r>
              <a:rPr sz="2600" b="1" i="0" dirty="0" err="1">
                <a:solidFill>
                  <a:srgbClr val="0D366B"/>
                </a:solidFill>
                <a:latin typeface="Segoe UI"/>
              </a:rPr>
              <a:t>antrean</a:t>
            </a:r>
            <a:r>
              <a:rPr sz="2600" b="1" i="0" dirty="0">
                <a:solidFill>
                  <a:srgbClr val="0D366B"/>
                </a:solidFill>
                <a:latin typeface="Segoe UI"/>
              </a:rPr>
              <a:t> audit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82296" cy="356616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32918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Klaim FKRTL (INA-CBG, severity, diagnosis, prosedur, tarif, tanggal)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Kunjungan FKTP dan rujukan (diagnosis, poli tujuan, faskes tujuan)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Kepesertaan (usia, jenis kelamin, segmen, wilayah)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Profil faskes (kelas, kepemilikan, wilayah)</a:t>
            </a:r>
          </a:p>
          <a:p>
            <a:pPr algn="l"/>
            <a:endParaRPr sz="1100" b="0" i="0">
              <a:solidFill>
                <a:srgbClr val="1F242B"/>
              </a:solidFill>
              <a:latin typeface="Segoe UI"/>
            </a:endParaRP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Tanpa nama, nomor kartu, nomor SEP, atau nama dokter.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4133088" y="3017520"/>
            <a:ext cx="146304" cy="36576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4297680" y="1463040"/>
            <a:ext cx="82296" cy="3566160"/>
          </a:xfrm>
          <a:prstGeom prst="rect">
            <a:avLst/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480560" y="155448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48F63"/>
                </a:solidFill>
                <a:latin typeface="Segoe UI"/>
              </a:rPr>
              <a:t>PROSES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1920240"/>
            <a:ext cx="32918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Penautan episode: rujukan FKTP ke klaim RS; rawat inap ke rawat inap berikutnya; kunjungan kontrol per pasien-diagnosis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Model angka wajar per modul (lihat slide berikut)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Agregasi per faskes: Observed, Expected, O/E, z-score, selisih rupiah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Uji stabilitas: split-half dan leave-one-out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Ambang ganda: O/E &gt; 1,05 dan z &gt; 1,96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27848" y="3017520"/>
            <a:ext cx="146304" cy="365760"/>
          </a:xfrm>
          <a:prstGeom prst="rightArrow">
            <a:avLst/>
          </a:prstGeom>
          <a:solidFill>
            <a:srgbClr val="A9C6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ounded Rectangle 16"/>
          <p:cNvSpPr/>
          <p:nvPr/>
        </p:nvSpPr>
        <p:spPr>
          <a:xfrm>
            <a:off x="8092440" y="1463040"/>
            <a:ext cx="3611880" cy="3566160"/>
          </a:xfrm>
          <a:prstGeom prst="roundRect">
            <a:avLst>
              <a:gd name="adj" fmla="val 6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092440" y="1463040"/>
            <a:ext cx="82296" cy="3566160"/>
          </a:xfrm>
          <a:prstGeom prst="rect">
            <a:avLst/>
          </a:prstGeom>
          <a:solidFill>
            <a:srgbClr val="C88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75320" y="1554480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C88A0A"/>
                </a:solidFill>
                <a:latin typeface="Segoe UI"/>
              </a:rPr>
              <a:t>OUTPUT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75320" y="1920240"/>
            <a:ext cx="3291840" cy="3017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Antrean audit: faskes terurut berdasarkan kelebihan rupiah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Kartu faskes: O/E per modul, tren, 3 diagnosis penyumbang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Peta risiko per kabupaten dan kedeputian wilayah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Daftar pasien risiko readmisi tinggi untuk tindak lanjut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Umpan balik audit (benar/salah) untuk melatih ulang model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166360"/>
            <a:ext cx="11155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0D366B"/>
                </a:solidFill>
                <a:latin typeface="Segoe UI"/>
              </a:rPr>
              <a:t>Asumsi dan batasan yang kami sadari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486400"/>
            <a:ext cx="111556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Data Sampel BPJS adalah sampel peserta, bukan populasi: angka rupiah diproyeksikan ke nasional dengan faktor skala dan diberi rentang, bukan angka tunggal.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Model menandai penyimpangan statistik, bukan niat. Sebagian faskes yang ditandai punya alasan klinis sah; itulah sebabnya keputusan tetap di verifikator.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4 · PENDEKATAN TEKNIS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Rancangan ML/AI: model paling sederhana yang terbukti cukup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11155679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63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490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Modul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Pertanyaan yang dijawab model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Metode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Kinerja pada sampel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#3 Rujukan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Berapa rujukan kasus ringan yang wajar untuk FKTP ini?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Rasio RRNS + uji binomial vs rekan sekabupaten; uji putusan RS (diagnosis akhir, tindakan)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29,0% rujukan ringan terbukti sia-sia vs 6,3% spesialistik; korelasi antar-paruh 0,49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#4 Upcoding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Severity berapa yang wajar untuk kasus ini?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Gradient boosting multikelas (diagnosis utama/sekunder, prosedur, usia); O/E per RS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AUC 0,842; akurasi 82%; O/E per kelas RS 0,978–1,022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#9 Fragmentasi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Berapa kunjungan kontrol yang wajar untuk pasien-diagnosis ini?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Standardisasi tidak langsung per kelas RS × kelompok diagnosis; uji Poisson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342 RS ditandai; 10% teratas = 58,8% kelebihan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#16 Readmisi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Seberapa besar risiko pasien ini kembali dalam 30 hari?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Gradient boosting biner (usia, diagnosis, lama rawat, riwayat, kelas RS); O/E per RS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AUC 0,814 vs 0,755 manual; capture 10% = 41,4%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ounded Rectangle 7"/>
          <p:cNvSpPr/>
          <p:nvPr/>
        </p:nvSpPr>
        <p:spPr>
          <a:xfrm>
            <a:off x="502920" y="4526280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02920" y="4526280"/>
            <a:ext cx="82296" cy="1783080"/>
          </a:xfrm>
          <a:prstGeom prst="rect">
            <a:avLst/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85800" y="461772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48F63"/>
                </a:solidFill>
                <a:latin typeface="Segoe UI"/>
              </a:rPr>
              <a:t>Tahap berikutnya (bila data lebih lengkap)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4983480"/>
            <a:ext cx="5166360" cy="1234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▪ LLM membaca resume medis (teks diagnosis) dan mencocokkan dengan kode INA-CBG yang ditagihkan, untuk memperkuat modul #4.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▪ Model sekuens riwayat pasien untuk readmisi, hanya jika terbukti mengalahkan AUC 0,814.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▪ Deteksi jaringan FKTP-RS (self-referral #10) bila data kepemilikan tersedia.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526280"/>
            <a:ext cx="5486400" cy="1783080"/>
          </a:xfrm>
          <a:prstGeom prst="roundRect">
            <a:avLst>
              <a:gd name="adj" fmla="val 6000"/>
            </a:avLst>
          </a:prstGeom>
          <a:solidFill>
            <a:srgbClr val="FBEC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6217920" y="4526280"/>
            <a:ext cx="82296" cy="1783080"/>
          </a:xfrm>
          <a:prstGeom prst="rect">
            <a:avLst/>
          </a:prstGeom>
          <a:solidFill>
            <a:srgbClr val="B533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0" y="461772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B53333"/>
                </a:solidFill>
                <a:latin typeface="Segoe UI"/>
              </a:rPr>
              <a:t>Yang sengaja tidak kami pakai, dan alasannya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4983480"/>
            <a:ext cx="5166360" cy="12344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▪ Deep learning untuk tabel klaim: tidak lebih baik dari gradient boosting, lebih sulit dijelaskan ke auditor.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▪ Ambang tetap nasional: menghukum RS rujukan (81,5% RS Kelas A tertandai palsu).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▪ Model self-referral berbasis konsentrasi: diuji, ternyata dipengaruhi geografi, sehingga tidak dimasukkan.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4 · PENDEKATAN TEKNIS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Integrasi data: yang sudah dipakai, dan yang ditambahkan saat 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5577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86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Sumber internal BPJS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Dipakai untuk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Data Sampel BPJS (FKTP, FKRTL, kepesertaan)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Seluruh 4 modul pada prototype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Sudah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V-Claim / klaim FKRTL harian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Skor severity, readmisi, kontrol ulang secara berkala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Saat pilot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P-Care / kunjungan dan rujukan FKTP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RRNS dan penautan rujukan ke klaim RS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Saat pilot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HFIS (profil faskes)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Kelas, kepemilikan, kapasitas untuk pembanding rekan sebaya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Saat pilot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Hasil verifikasi dan audit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Label benar/salah untuk melatih ulang model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Saat pilot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463040"/>
          <a:ext cx="544068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Sumber terbuka / K/L lain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Dipakai untuk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Status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Kemenkes: registrasi RS dan kelas (rs.kemkes.go.id)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Validasi kelas RS dan status akreditasi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Siap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SISDMK (tenaga kesehatan per faskes)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Rasio dokter spesialis untuk konteks rujukan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Siap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BPS: penduduk, kepadatan, wilayah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Penyebut per kabupaten; normalisasi peta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Siap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Peta administrasi (BIG / data.go.id)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Peta risiko kabupaten dan kedeputian wilayah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Sudah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Daftar 144 diagnosis kompetensi FKTP (KKI/SKDI)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Definisi kasus non-spesialistik modul #3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Sudah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4434840"/>
            <a:ext cx="11155680" cy="182880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502920" y="4434840"/>
            <a:ext cx="82296" cy="18288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85800" y="4526279"/>
            <a:ext cx="10835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Prinsip integrasi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4892040"/>
            <a:ext cx="10835640" cy="563231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 dirty="0">
                <a:solidFill>
                  <a:srgbClr val="1F242B"/>
                </a:solidFill>
                <a:latin typeface="Segoe UI"/>
              </a:rPr>
              <a:t>▪ Data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tidak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keluar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dari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lingkungan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BPJS: S</a:t>
            </a:r>
            <a:r>
              <a:rPr lang="en-US" sz="1100" b="0" i="0" dirty="0">
                <a:solidFill>
                  <a:srgbClr val="1F242B"/>
                </a:solidFill>
                <a:latin typeface="Segoe UI"/>
              </a:rPr>
              <a:t>IDAK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dipasang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di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dalam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infrastruktur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BPJS (on-premise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atau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cloud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milik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BPJS),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bukan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di server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tim.</a:t>
            </a:r>
            <a:endParaRPr sz="1100" b="0" i="0" dirty="0">
              <a:solidFill>
                <a:srgbClr val="1F242B"/>
              </a:solidFill>
              <a:latin typeface="Segoe UI"/>
            </a:endParaRPr>
          </a:p>
          <a:p>
            <a:pPr algn="l"/>
            <a:r>
              <a:rPr sz="1100" b="0" i="0" dirty="0">
                <a:solidFill>
                  <a:srgbClr val="1F242B"/>
                </a:solidFill>
                <a:latin typeface="Segoe UI"/>
              </a:rPr>
              <a:t>▪ Hanya data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agregat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dan ID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tersamar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yang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dipakai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model. Nama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peserta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,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nomor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kartu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, dan nama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dokter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tidak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pernah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masuk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ke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fitur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model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maupun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tampilan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.</a:t>
            </a:r>
          </a:p>
          <a:p>
            <a:pPr algn="l"/>
            <a:r>
              <a:rPr sz="1100" b="0" i="0" dirty="0">
                <a:solidFill>
                  <a:srgbClr val="1F242B"/>
                </a:solidFill>
                <a:latin typeface="Segoe UI"/>
              </a:rPr>
              <a:t>▪ Skema data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mengikuti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format Data Sampel BPJS,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sehingga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migrasi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ke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data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produksi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hanya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perlu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pemetaan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kolom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,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bukan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penulisan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 </a:t>
            </a:r>
            <a:r>
              <a:rPr sz="1100" b="0" i="0" dirty="0" err="1">
                <a:solidFill>
                  <a:srgbClr val="1F242B"/>
                </a:solidFill>
                <a:latin typeface="Segoe UI"/>
              </a:rPr>
              <a:t>ulang</a:t>
            </a:r>
            <a:r>
              <a:rPr sz="1100" b="0" i="0" dirty="0">
                <a:solidFill>
                  <a:srgbClr val="1F242B"/>
                </a:solidFill>
                <a:latin typeface="Segoe UI"/>
              </a:rPr>
              <a:t>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4 · PENDEKATAN TEKNIS &amp;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Dashboard eksekutif: dari peta nasional ke satu faskes dalam tiga klik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463040"/>
            <a:ext cx="11155680" cy="4480560"/>
          </a:xfrm>
          <a:prstGeom prst="rect">
            <a:avLst/>
          </a:prstGeom>
          <a:solidFill>
            <a:srgbClr val="FFFFFF"/>
          </a:solidFill>
          <a:ln w="9525">
            <a:solidFill>
              <a:srgbClr val="D8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11155680" cy="41148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40080" y="1556441"/>
            <a:ext cx="7315200" cy="224677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100" b="1" i="0" dirty="0">
                <a:solidFill>
                  <a:srgbClr val="FFFFFF"/>
                </a:solidFill>
                <a:latin typeface="Segoe UI"/>
              </a:rPr>
              <a:t>S</a:t>
            </a:r>
            <a:r>
              <a:rPr lang="en-US" sz="1100" b="1" i="0" dirty="0">
                <a:solidFill>
                  <a:srgbClr val="FFFFFF"/>
                </a:solidFill>
                <a:latin typeface="Segoe UI"/>
              </a:rPr>
              <a:t>IDAK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· Dashboard 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Pengawasan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Faskes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· 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Kedeputian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 Wilayah: [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Semua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] · </a:t>
            </a:r>
            <a:r>
              <a:rPr sz="1100" b="1" i="0" dirty="0" err="1">
                <a:solidFill>
                  <a:srgbClr val="FFFFFF"/>
                </a:solidFill>
                <a:latin typeface="Segoe UI"/>
              </a:rPr>
              <a:t>Periode</a:t>
            </a:r>
            <a:r>
              <a:rPr sz="1100" b="1" i="0" dirty="0">
                <a:solidFill>
                  <a:srgbClr val="FFFFFF"/>
                </a:solidFill>
                <a:latin typeface="Segoe UI"/>
              </a:rPr>
              <a:t>: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692640" y="1527048"/>
            <a:ext cx="1828800" cy="274320"/>
          </a:xfrm>
          <a:prstGeom prst="roundRect">
            <a:avLst>
              <a:gd name="adj" fmla="val 50000"/>
            </a:avLst>
          </a:prstGeom>
          <a:solidFill>
            <a:srgbClr val="A9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692640" y="1527048"/>
            <a:ext cx="1828800" cy="2743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900" b="1" i="0">
                <a:solidFill>
                  <a:srgbClr val="0D366B"/>
                </a:solidFill>
                <a:latin typeface="Segoe UI"/>
              </a:rPr>
              <a:t>Modul: Semua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85800" y="201168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77240" y="2084832"/>
            <a:ext cx="2377439" cy="47777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B53333"/>
                </a:solidFill>
                <a:latin typeface="Segoe UI"/>
              </a:rPr>
              <a:t>Rp 27,4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489454"/>
            <a:ext cx="2377439" cy="3451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Kelebihan klaim terdeteksi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383280" y="201168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474720" y="2084832"/>
            <a:ext cx="2377439" cy="47777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B53333"/>
                </a:solidFill>
                <a:latin typeface="Segoe UI"/>
              </a:rPr>
              <a:t>399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74720" y="2489454"/>
            <a:ext cx="2377439" cy="3451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Faskes ditandai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080760" y="201168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172200" y="2084832"/>
            <a:ext cx="2377439" cy="47777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148F63"/>
                </a:solidFill>
                <a:latin typeface="Segoe UI"/>
              </a:rPr>
              <a:t>58,8%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172200" y="2489454"/>
            <a:ext cx="2377439" cy="3451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Tertangkap oleh 10% teratas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778240" y="2011680"/>
            <a:ext cx="2560320" cy="868680"/>
          </a:xfrm>
          <a:prstGeom prst="roundRect">
            <a:avLst>
              <a:gd name="adj" fmla="val 8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869680" y="2084832"/>
            <a:ext cx="2377439" cy="477773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l"/>
            <a:r>
              <a:rPr sz="1800" b="1" i="0">
                <a:solidFill>
                  <a:srgbClr val="0D366B"/>
                </a:solidFill>
                <a:latin typeface="Segoe UI"/>
              </a:rPr>
              <a:t>O/E 1,00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2489454"/>
            <a:ext cx="2377439" cy="345186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Rata-rata nasional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85800" y="3017520"/>
            <a:ext cx="5120640" cy="2743200"/>
          </a:xfrm>
          <a:prstGeom prst="roundRect">
            <a:avLst>
              <a:gd name="adj" fmla="val 4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777240" y="3063240"/>
            <a:ext cx="49377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0D366B"/>
                </a:solidFill>
                <a:latin typeface="Segoe UI"/>
              </a:rPr>
              <a:t>PETA RISIKO · RRNS per provinsi (klik provinsi → kabupaten → FKTP)</a:t>
            </a:r>
          </a:p>
        </p:txBody>
      </p:sp>
      <p:pic>
        <p:nvPicPr>
          <p:cNvPr id="26" name="Picture 25" descr="c6_pet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337560"/>
            <a:ext cx="4937760" cy="1975104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5989320" y="3063240"/>
            <a:ext cx="539496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1" i="0">
                <a:solidFill>
                  <a:srgbClr val="0D366B"/>
                </a:solidFill>
                <a:latin typeface="Segoe UI"/>
              </a:rPr>
              <a:t>ANTREAN AUDIT (urut kelebihan rupiah)</a:t>
            </a:r>
          </a:p>
        </p:txBody>
      </p:sp>
      <p:graphicFrame>
        <p:nvGraphicFramePr>
          <p:cNvPr id="28" name="Table 27"/>
          <p:cNvGraphicFramePr>
            <a:graphicFrameLocks noGrp="1"/>
          </p:cNvGraphicFramePr>
          <p:nvPr/>
        </p:nvGraphicFramePr>
        <p:xfrm>
          <a:off x="5989320" y="3337560"/>
          <a:ext cx="5486400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240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304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#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Faskes (ID samar)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Modul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O/E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1">
                          <a:solidFill>
                            <a:srgbClr val="FFFFFF"/>
                          </a:solidFill>
                          <a:latin typeface="Segoe UI"/>
                        </a:rPr>
                        <a:t>Kelebihan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RS-0473 · Kelas B · Swasta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#9 #4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1,84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Rp 612 jt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2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RS-1120 · Kelas C · Pemda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#9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1,71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Rp 455 jt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3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RS-0088 · Kelas B · Swasta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#16 #9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1,52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Rp 398 jt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4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FKTP-2291 · Klinik Pratama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#3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2,60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Rp 141 jt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5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RS-0655 · Kelas A · Pemerintah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#4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1,31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850" b="0">
                          <a:solidFill>
                            <a:srgbClr val="1F242B"/>
                          </a:solidFill>
                          <a:latin typeface="Segoe UI"/>
                        </a:rPr>
                        <a:t>Rp 133 jt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9" name="TextBox 28"/>
          <p:cNvSpPr txBox="1"/>
          <p:nvPr/>
        </p:nvSpPr>
        <p:spPr>
          <a:xfrm>
            <a:off x="5989320" y="5074920"/>
            <a:ext cx="5486400" cy="7315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 i="0">
                <a:solidFill>
                  <a:srgbClr val="5F666E"/>
                </a:solidFill>
                <a:latin typeface="Segoe UI"/>
              </a:rPr>
              <a:t>Klik baris → kartu faskes: O/E per modul, tren 12 bulan, 3 diagnosis penyumbang, daftar klaim untuk ditinjau. Tombol: Tandai untuk audit / Bukan masalah (umpan balik ke model).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035040"/>
            <a:ext cx="111556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1">
                <a:solidFill>
                  <a:srgbClr val="5F666E"/>
                </a:solidFill>
                <a:latin typeface="Segoe UI"/>
              </a:rPr>
              <a:t>Prototype dashboard sudah berjalan (Streamlit + peta interaktif) pada data sampel. Tampilan di atas adalah rancangan layar utama; angka contoh diambil dari hasil model pada sampel.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5 · TINGKAT KEMATANGAN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Prototype: model dan dashboard sudah berjalan pada data sampel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121408" cy="822960"/>
          </a:xfrm>
          <a:prstGeom prst="roundRect">
            <a:avLst>
              <a:gd name="adj" fmla="val 10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212140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D366B"/>
                </a:solidFill>
                <a:latin typeface="Segoe UI"/>
              </a:rPr>
              <a:t>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1920240"/>
            <a:ext cx="212140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endParaRPr/>
          </a:p>
        </p:txBody>
      </p:sp>
      <p:sp>
        <p:nvSpPr>
          <p:cNvPr id="10" name="Rounded Rectangle 9"/>
          <p:cNvSpPr/>
          <p:nvPr/>
        </p:nvSpPr>
        <p:spPr>
          <a:xfrm>
            <a:off x="2761488" y="1508760"/>
            <a:ext cx="2121408" cy="822960"/>
          </a:xfrm>
          <a:prstGeom prst="roundRect">
            <a:avLst>
              <a:gd name="adj" fmla="val 10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2761488" y="1508760"/>
            <a:ext cx="212140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D366B"/>
                </a:solidFill>
                <a:latin typeface="Segoe UI"/>
              </a:rPr>
              <a:t>Mockup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61488" y="1920240"/>
            <a:ext cx="212140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endParaRPr/>
          </a:p>
        </p:txBody>
      </p:sp>
      <p:sp>
        <p:nvSpPr>
          <p:cNvPr id="13" name="Rounded Rectangle 12"/>
          <p:cNvSpPr/>
          <p:nvPr/>
        </p:nvSpPr>
        <p:spPr>
          <a:xfrm>
            <a:off x="5020056" y="1508760"/>
            <a:ext cx="2121408" cy="822960"/>
          </a:xfrm>
          <a:prstGeom prst="roundRect">
            <a:avLst>
              <a:gd name="adj" fmla="val 10000"/>
            </a:avLst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020056" y="1508760"/>
            <a:ext cx="212140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Segoe UI"/>
              </a:rPr>
              <a:t>Prototype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0056" y="1920240"/>
            <a:ext cx="212140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1" i="0">
                <a:solidFill>
                  <a:srgbClr val="FFFFFF"/>
                </a:solidFill>
                <a:latin typeface="Segoe UI"/>
              </a:rPr>
              <a:t>KAMI DI SINI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278624" y="1508760"/>
            <a:ext cx="2121408" cy="822960"/>
          </a:xfrm>
          <a:prstGeom prst="roundRect">
            <a:avLst>
              <a:gd name="adj" fmla="val 10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278624" y="1508760"/>
            <a:ext cx="212140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D366B"/>
                </a:solidFill>
                <a:latin typeface="Segoe UI"/>
              </a:rPr>
              <a:t>MVP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78624" y="1920240"/>
            <a:ext cx="212140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1" i="0">
                <a:solidFill>
                  <a:srgbClr val="5F666E"/>
                </a:solidFill>
                <a:latin typeface="Segoe UI"/>
              </a:rPr>
              <a:t>Okt–Nov 2026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537192" y="1508760"/>
            <a:ext cx="2121408" cy="822960"/>
          </a:xfrm>
          <a:prstGeom prst="roundRect">
            <a:avLst>
              <a:gd name="adj" fmla="val 10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9537192" y="1508760"/>
            <a:ext cx="2121408" cy="50292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400" b="1" i="0">
                <a:solidFill>
                  <a:srgbClr val="0D366B"/>
                </a:solidFill>
                <a:latin typeface="Segoe UI"/>
              </a:rPr>
              <a:t>Produk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537192" y="1920240"/>
            <a:ext cx="2121408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900" b="1" i="0">
                <a:solidFill>
                  <a:srgbClr val="5F666E"/>
                </a:solidFill>
                <a:latin typeface="Segoe UI"/>
              </a:rPr>
              <a:t>2027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2606040"/>
            <a:ext cx="5486400" cy="361188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2606040"/>
            <a:ext cx="82296" cy="3611880"/>
          </a:xfrm>
          <a:prstGeom prst="rect">
            <a:avLst/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269748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48F63"/>
                </a:solidFill>
                <a:latin typeface="Segoe UI"/>
              </a:rPr>
              <a:t>Sudah ada dan sudah diuji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3063240"/>
            <a:ext cx="5166360" cy="3063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Pipeline data: pembacaan Data Sampel BPJS (4,1 juta kunjungan FKTP; 1,7 juta klaim FKRTL), penautan rujukan ke klaim RS (100% cocok).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4 model angka wajar, masing-masing dengan uji stabilitas (split-half) dan uji keadilan antar kelas RS.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55 dari 55 angka hasil analisis dapat direplikasi ulang dari skrip (reproducible).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Dashboard prototype: peta kabupaten, funnel plot, antrean audit, kartu faskes.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Dokumentasi metode dan batasan (README, metrik.json).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17920" y="2606040"/>
            <a:ext cx="5486400" cy="3611880"/>
          </a:xfrm>
          <a:prstGeom prst="roundRect">
            <a:avLst>
              <a:gd name="adj" fmla="val 6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6217920" y="2606040"/>
            <a:ext cx="82296" cy="3611880"/>
          </a:xfrm>
          <a:prstGeom prst="rect">
            <a:avLst/>
          </a:prstGeom>
          <a:solidFill>
            <a:srgbClr val="C88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6400800" y="269748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C88A0A"/>
                </a:solidFill>
                <a:latin typeface="Segoe UI"/>
              </a:rPr>
              <a:t>Belum ada, dikerjakan di tahap MVP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400800" y="3063240"/>
            <a:ext cx="5166360" cy="30632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Koneksi ke data produksi (V-Claim, P-Care, HFIS) melalui API internal BPJS.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Modul umpan balik: hasil verifikasi masuk kembali sebagai label untuk melatih ulang model.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Manajemen pengguna, hak akses per kedeputian wilayah, dan jejak audit (audit log).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Uji lapangan dengan verifikator: apakah antrean SORAI benar-benar mempercepat temuan?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Kalibrasi ulang faktor skala nasional dengan data populasi.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6 · DAMPAK &amp; NILAI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Dampak bisnis: Rp 2,0–2,9 T per tahun, setara 14–20% defisit DJS 2025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1463040"/>
          <a:ext cx="6766560" cy="23042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44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887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Modul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Kelebihan pada sampel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% biaya FKRTL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FFFFFF"/>
                          </a:solidFill>
                          <a:latin typeface="Segoe UI"/>
                        </a:rPr>
                        <a:t>Proyeksi nasional / tahun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42B"/>
                          </a:solidFill>
                          <a:latin typeface="Segoe UI"/>
                        </a:rPr>
                        <a:t>#3 Rujukan tidak sesuai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Rp 1,4–9,9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0,09–0,65%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Rp 0,15–1,06 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42B"/>
                          </a:solidFill>
                          <a:latin typeface="Segoe UI"/>
                        </a:rPr>
                        <a:t>#4 Upcoding severity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Rp 2,2 M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0,14%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Rp 0,24 T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42B"/>
                          </a:solidFill>
                          <a:latin typeface="Segoe UI"/>
                        </a:rPr>
                        <a:t>#9 Fragmentasi (kontrol ulang)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Rp 11,7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0,76%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Rp 1,25 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42B"/>
                          </a:solidFill>
                          <a:latin typeface="Segoe UI"/>
                        </a:rPr>
                        <a:t>#16 Readmisi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Rp 3,5 M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0,23%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1F242B"/>
                          </a:solidFill>
                          <a:latin typeface="Segoe UI"/>
                        </a:rPr>
                        <a:t>Rp 0,38 T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42B"/>
                          </a:solidFill>
                          <a:latin typeface="Segoe UI"/>
                        </a:rPr>
                        <a:t>Total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42B"/>
                          </a:solidFill>
                          <a:latin typeface="Segoe UI"/>
                        </a:rPr>
                        <a:t>Rp 18,8–27,4 M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42B"/>
                          </a:solidFill>
                          <a:latin typeface="Segoe UI"/>
                        </a:rPr>
                        <a:t>1,2–1,8%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1">
                          <a:solidFill>
                            <a:srgbClr val="1F242B"/>
                          </a:solidFill>
                          <a:latin typeface="Segoe UI"/>
                        </a:rPr>
                        <a:t>Rp 2,0–2,9 T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pic>
        <p:nvPicPr>
          <p:cNvPr id="8" name="Picture 7" descr="c5_dampak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52360" y="1463040"/>
            <a:ext cx="4251960" cy="193270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452360" y="3429000"/>
            <a:ext cx="425196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1">
                <a:solidFill>
                  <a:srgbClr val="5F666E"/>
                </a:solidFill>
                <a:latin typeface="Segoe UI"/>
              </a:rPr>
              <a:t>Kelebihan rupiah per modul pada data sampel.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" y="3977639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502920" y="3977639"/>
            <a:ext cx="82296" cy="2286000"/>
          </a:xfrm>
          <a:prstGeom prst="rect">
            <a:avLst/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5800" y="4069079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48F63"/>
                </a:solidFill>
                <a:latin typeface="Segoe UI"/>
              </a:rPr>
              <a:t>Skenario pemulihan (nasional)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4434840"/>
            <a:ext cx="33375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Tidak semua yang ditandai akan terkoreksi. Dengan tingkat pemulihan: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30% → Rp 0,6–0,9 T per tahun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50% → Rp 1,0–1,5 T per tahun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Pembanding: seluruh koreksi verifikator saat ini ≈ 0,82% biaya.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3977639"/>
            <a:ext cx="3657600" cy="228600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297680" y="3977639"/>
            <a:ext cx="82296" cy="22860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480560" y="4069079"/>
            <a:ext cx="33375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Efisiensi kerja verifikator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4434840"/>
            <a:ext cx="333756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Audit 10% faskes teratas menangkap 41–59% kelebihan; 1% teratas menangkap 12–33%.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Verifikator tidak lagi memilih sampel acak, tetapi memulai dari daftar yang sudah terurut.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Waktu temuan per kasus turun karena bukti (O/E, diagnosis penyumbang) sudah tersaji.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092440" y="3977639"/>
            <a:ext cx="3611880" cy="2286000"/>
          </a:xfrm>
          <a:prstGeom prst="roundRect">
            <a:avLst>
              <a:gd name="adj" fmla="val 6000"/>
            </a:avLst>
          </a:prstGeom>
          <a:solidFill>
            <a:srgbClr val="FDF3D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8092440" y="3977639"/>
            <a:ext cx="82296" cy="2286000"/>
          </a:xfrm>
          <a:prstGeom prst="rect">
            <a:avLst/>
          </a:prstGeom>
          <a:solidFill>
            <a:srgbClr val="C88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8275319" y="4069079"/>
            <a:ext cx="32918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C88A0A"/>
                </a:solidFill>
                <a:latin typeface="Segoe UI"/>
              </a:rPr>
              <a:t>Dampak non-finansial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19" y="4434840"/>
            <a:ext cx="3291840" cy="17373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Peserta: kasus ringan selesai di FKTP, antrean RS berkurang.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Pasien risiko readmisi tinggi mendapat tindak lanjut lebih awal.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Faskes jujur diuntungkan: pembanding adil, bukan ambang pukul rata.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Efek jera: faskes tahu polanya terbaca.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309360"/>
            <a:ext cx="1115568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850" b="0" i="1">
                <a:solidFill>
                  <a:srgbClr val="5F666E"/>
                </a:solidFill>
                <a:latin typeface="Segoe UI"/>
              </a:rPr>
              <a:t>Cara proyeksi: kelebihan sampel ÷ biaya FKRTL sampel × beban jaminan FKRTL nasional 2025; rentang mencerminkan definisi ketat vs longgar pada modul #3.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7 · RENCANA &amp; KELAYAKAN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Empat fase menuju pemakaian nasional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508760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2697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Fase 0 · Sep 2026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01168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0080" y="2103120"/>
            <a:ext cx="24688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148F63"/>
                </a:solidFill>
                <a:latin typeface="Segoe UI"/>
              </a:rPr>
              <a:t>Prototype (selesai)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2468880"/>
            <a:ext cx="24688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4 modul pada data sampel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Dashboard prototype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Dokumentasi metode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37560" y="1508760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337560" y="1508760"/>
            <a:ext cx="2697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Fase 1 · Okt–Nov 2026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37560" y="201168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474720" y="2103120"/>
            <a:ext cx="24688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0D366B"/>
                </a:solidFill>
                <a:latin typeface="Segoe UI"/>
              </a:rPr>
              <a:t>MVP + 1 Kedeputian Wilayah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74720" y="2468880"/>
            <a:ext cx="24688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Koneksi V-Claim/P-Care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Uji dengan verifikator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Ukur: waktu temuan, presisi tanda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72200" y="1508760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172200" y="1508760"/>
            <a:ext cx="2697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Fase 2 · Des 2026–Mar 2027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201168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309360" y="2103120"/>
            <a:ext cx="24688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0D366B"/>
                </a:solidFill>
                <a:latin typeface="Segoe UI"/>
              </a:rPr>
              <a:t>Pilot 3 Kedeputian Wilayah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2468880"/>
            <a:ext cx="24688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Umpan balik audit → latih ulang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Hak akses &amp; audit log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Kalibrasi faktor nasional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06840" y="1508760"/>
            <a:ext cx="2697480" cy="457200"/>
          </a:xfrm>
          <a:prstGeom prst="roundRect">
            <a:avLst>
              <a:gd name="adj" fmla="val 10000"/>
            </a:avLst>
          </a:prstGeom>
          <a:solidFill>
            <a:srgbClr val="C88A0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006840" y="1508760"/>
            <a:ext cx="2697480" cy="45720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Segoe UI"/>
              </a:rPr>
              <a:t>Fase 3 · 2027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06840" y="2011680"/>
            <a:ext cx="2697480" cy="210312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144000" y="2103120"/>
            <a:ext cx="246888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1" i="0">
                <a:solidFill>
                  <a:srgbClr val="C88A0A"/>
                </a:solidFill>
                <a:latin typeface="Segoe UI"/>
              </a:rPr>
              <a:t>Skala nasional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44000" y="2468880"/>
            <a:ext cx="2468880" cy="1645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Integrasi ke alur verifikasi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Perluasan ke modus lain (#8, #10, #12)</a:t>
            </a:r>
          </a:p>
          <a:p>
            <a:pPr>
              <a:spcAft>
                <a:spcPts val="400"/>
              </a:spcAft>
            </a:pPr>
            <a:r>
              <a:rPr sz="1050" b="1">
                <a:solidFill>
                  <a:srgbClr val="148F63"/>
                </a:solidFill>
                <a:latin typeface="Segoe UI"/>
              </a:rPr>
              <a:t>▪ </a:t>
            </a:r>
            <a:r>
              <a:rPr sz="1050" b="0">
                <a:solidFill>
                  <a:srgbClr val="1F242B"/>
                </a:solidFill>
                <a:latin typeface="Segoe UI"/>
              </a:rPr>
              <a:t>SLA &amp; pemeliharaan model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02920" y="434340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Rectangle 27"/>
          <p:cNvSpPr/>
          <p:nvPr/>
        </p:nvSpPr>
        <p:spPr>
          <a:xfrm>
            <a:off x="502920" y="4343400"/>
            <a:ext cx="82296" cy="192024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685800" y="443484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Sumber daya yang dibutuhkan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5800" y="4800600"/>
            <a:ext cx="51663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Tim: 1 data scientist, 1 data engineer, 1 pengembang dashboard, 1 pendamping klinis/verifikator BPJS.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Infrastruktur: server di lingkungan BPJS (CPU cukup; model gradient boosting ringan, tanpa GPU).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Akses: skema V-Claim, P-Care, HFIS lewat API internal; dukungan Kedeputian Wilayah pilot.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17920" y="4343400"/>
            <a:ext cx="5486400" cy="192024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6217920" y="4343400"/>
            <a:ext cx="82296" cy="1920240"/>
          </a:xfrm>
          <a:prstGeom prst="rect">
            <a:avLst/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400800" y="443484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48F63"/>
                </a:solidFill>
                <a:latin typeface="Segoe UI"/>
              </a:rPr>
              <a:t>Mengapa layak dijalankan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4800600"/>
            <a:ext cx="516636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Teknologi sederhana dan terbukti: pipeline Python, model ringan, dashboard web.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Skema data mengikuti format klaim BPJS; tidak perlu pengumpulan data baru.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Ukuran keberhasilan jelas: presisi tanda saat diaudit, rupiah terkoreksi, waktu temuan per kasus.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8 · RISIKO, PRIVASI &amp; ETIKA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Aman bagi peserta, adil bagi faskes jujur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502920" y="1463040"/>
            <a:ext cx="82296" cy="214884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85800" y="155448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Privasi &amp; kepatuhan UU PDP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1920240"/>
            <a:ext cx="5166360" cy="1600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Prototype hanya memakai Data Sampel BPJS yang sudah dianonimkan; tidak ada data peserta nyata.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Model tidak memakai nama, NIK, nomor kartu, nomor SEP, atau nama dokter; ID faskes dan pasien disamarkan di tampilan.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Saat diterapkan: pemrosesan di dalam lingkungan BPJS, hak akses per peran, jejak audit setiap pembukaan data.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463040"/>
            <a:ext cx="5486400" cy="2148840"/>
          </a:xfrm>
          <a:prstGeom prst="roundRect">
            <a:avLst>
              <a:gd name="adj" fmla="val 6000"/>
            </a:avLst>
          </a:prstGeom>
          <a:solidFill>
            <a:srgbClr val="E6F6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6217920" y="1463040"/>
            <a:ext cx="82296" cy="2148840"/>
          </a:xfrm>
          <a:prstGeom prst="rect">
            <a:avLst/>
          </a:prstGeom>
          <a:solidFill>
            <a:srgbClr val="148F6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400800" y="1554480"/>
            <a:ext cx="516636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148F63"/>
                </a:solidFill>
                <a:latin typeface="Segoe UI"/>
              </a:rPr>
              <a:t>Human-in-the-loop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1920240"/>
            <a:ext cx="5166360" cy="1600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SORAI tidak pernah menolak atau memotong klaim secara otomatis. Keluarannya adalah prioritas pemeriksaan.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Setiap tanda bisa dibantah: faskes dapat memberi konteks klinis, verifikator memutuskan.</a:t>
            </a:r>
          </a:p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▪ Keputusan verifikator masuk kembali sebagai umpan balik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3749039"/>
            <a:ext cx="11155680" cy="3200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Tiga risiko utama dan mitigasinya</a:t>
            </a:r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502920" y="4114800"/>
          <a:ext cx="11155680" cy="212140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66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4937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3035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Risiko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Dampak bila terjadi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FFFFFF"/>
                          </a:solidFill>
                          <a:latin typeface="Segoe UI"/>
                        </a:rPr>
                        <a:t>Mitigasi</a:t>
                      </a:r>
                    </a:p>
                  </a:txBody>
                  <a:tcPr marL="73152" marR="73152" marT="27432" marB="27432" anchor="ctr">
                    <a:solidFill>
                      <a:srgbClr val="0D36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Bias terhadap RS rujukan atau daerah tertentu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RS Kelas A / daerah terpencil ditandai karena kasusnya berat, bukan karena menyimpang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Pembanding rekan sebaya (kelas, wilayah, campuran kasus); uji keadilan rutin: O/E rata-rata per kelas harus ≈ 1,0 (saat ini 0,978–1,022)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Tanda palsu merugikan faskes jujur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Beban audit tak perlu, hubungan BPJS–faskes memburuk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Ambang ganda (O/E &gt; 1,05 dan z &gt; 1,96); tanda hanya jadi prioritas, bukan sanksi; hak bantah</a:t>
                      </a:r>
                    </a:p>
                  </a:txBody>
                  <a:tcPr marL="73152" marR="73152" marT="27432" marB="27432" anchor="ctr">
                    <a:solidFill>
                      <a:srgbClr val="F3F3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0352">
                <a:tc>
                  <a:txBody>
                    <a:bodyPr/>
                    <a:lstStyle/>
                    <a:p>
                      <a:r>
                        <a:rPr sz="950" b="1">
                          <a:solidFill>
                            <a:srgbClr val="1F242B"/>
                          </a:solidFill>
                          <a:latin typeface="Segoe UI"/>
                        </a:rPr>
                        <a:t>Faskes mengubah pola untuk menghindari deteksi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Sinyal melemah seiring waktu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50" b="0">
                          <a:solidFill>
                            <a:srgbClr val="1F242B"/>
                          </a:solidFill>
                          <a:latin typeface="Segoe UI"/>
                        </a:rPr>
                        <a:t>Latih ulang berkala dengan label audit; pantau pergeseran distribusi; tambah modus baru dari guide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502920" y="256032"/>
            <a:ext cx="82296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1" i="0">
                <a:solidFill>
                  <a:srgbClr val="148F63"/>
                </a:solidFill>
                <a:latin typeface="Segoe UI"/>
              </a:rPr>
              <a:t>9 · PROFIL TIM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475488"/>
            <a:ext cx="1115568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2600" b="1" i="0">
                <a:solidFill>
                  <a:srgbClr val="0D366B"/>
                </a:solidFill>
                <a:latin typeface="Segoe UI"/>
              </a:rPr>
              <a:t>Tim [Nama Tim]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73152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r"/>
            <a:r>
              <a:rPr sz="900" b="0" i="0">
                <a:solidFill>
                  <a:srgbClr val="5F666E"/>
                </a:solidFill>
                <a:latin typeface="Segoe UI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6446520"/>
            <a:ext cx="5486400" cy="27432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900" b="0" i="0">
                <a:solidFill>
                  <a:srgbClr val="5F666E"/>
                </a:solidFill>
                <a:latin typeface="Segoe UI"/>
              </a:rPr>
              <a:t>SORAI · Healthkathon 2026 · Kategori Fasilitas Kesehatan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Oval 7"/>
          <p:cNvSpPr/>
          <p:nvPr/>
        </p:nvSpPr>
        <p:spPr>
          <a:xfrm>
            <a:off x="685800" y="1645920"/>
            <a:ext cx="822960" cy="822960"/>
          </a:xfrm>
          <a:prstGeom prst="ellipse">
            <a:avLst/>
          </a:prstGeom>
          <a:solidFill>
            <a:srgbClr val="A9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645920" y="169164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[Nama Anggota 1]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05740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[Peran: Ketua / Data Scientist / Pengembang]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2651760"/>
            <a:ext cx="32918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[Latar belakang: pendidikan, instansi]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[Keahlian relevan: ML, data kesehatan, JKN, dashboard]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[Kontribusi di SORAI]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297680" y="146304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Oval 12"/>
          <p:cNvSpPr/>
          <p:nvPr/>
        </p:nvSpPr>
        <p:spPr>
          <a:xfrm>
            <a:off x="4480560" y="1645920"/>
            <a:ext cx="822960" cy="822960"/>
          </a:xfrm>
          <a:prstGeom prst="ellipse">
            <a:avLst/>
          </a:prstGeom>
          <a:solidFill>
            <a:srgbClr val="A9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440680" y="169164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[Nama Anggota 2]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40680" y="205740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[Peran: Ketua / Data Scientist / Pengembang]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51760"/>
            <a:ext cx="32918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[Latar belakang: pendidikan, instansi]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[Keahlian relevan: ML, data kesehatan, JKN, dashboard]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[Kontribusi di SORAI]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92440" y="1463040"/>
            <a:ext cx="3611880" cy="2651760"/>
          </a:xfrm>
          <a:prstGeom prst="roundRect">
            <a:avLst>
              <a:gd name="adj" fmla="val 6000"/>
            </a:avLst>
          </a:prstGeom>
          <a:solidFill>
            <a:srgbClr val="F3F3E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8275320" y="1645920"/>
            <a:ext cx="822960" cy="822960"/>
          </a:xfrm>
          <a:prstGeom prst="ellipse">
            <a:avLst/>
          </a:prstGeom>
          <a:solidFill>
            <a:srgbClr val="A9C6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235440" y="169164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[Nama Anggota 3]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235440" y="2057400"/>
            <a:ext cx="23774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00" b="0" i="0">
                <a:solidFill>
                  <a:srgbClr val="5F666E"/>
                </a:solidFill>
                <a:latin typeface="Segoe UI"/>
              </a:rPr>
              <a:t>[Peran: Ketua / Data Scientist / Pengembang]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75320" y="2651760"/>
            <a:ext cx="3291840" cy="13716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[Latar belakang: pendidikan, instansi]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[Keahlian relevan: ML, data kesehatan, JKN, dashboard]</a:t>
            </a:r>
          </a:p>
          <a:p>
            <a:pPr algn="l"/>
            <a:r>
              <a:rPr sz="1050" b="0" i="0">
                <a:solidFill>
                  <a:srgbClr val="1F242B"/>
                </a:solidFill>
                <a:latin typeface="Segoe UI"/>
              </a:rPr>
              <a:t>[Kontribusi di SORAI]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2920" y="4297680"/>
            <a:ext cx="11155680" cy="1188720"/>
          </a:xfrm>
          <a:prstGeom prst="roundRect">
            <a:avLst>
              <a:gd name="adj" fmla="val 6000"/>
            </a:avLst>
          </a:prstGeom>
          <a:solidFill>
            <a:srgbClr val="E8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ectangle 22"/>
          <p:cNvSpPr/>
          <p:nvPr/>
        </p:nvSpPr>
        <p:spPr>
          <a:xfrm>
            <a:off x="502920" y="4297680"/>
            <a:ext cx="82296" cy="118872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685800" y="4389120"/>
            <a:ext cx="1083564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300" b="1" i="0">
                <a:solidFill>
                  <a:srgbClr val="0D366B"/>
                </a:solidFill>
                <a:latin typeface="Segoe UI"/>
              </a:rPr>
              <a:t>Peran pendamping yang kami cari saat pilot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85800" y="4754880"/>
            <a:ext cx="10835640" cy="6400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1F242B"/>
                </a:solidFill>
                <a:latin typeface="Segoe UI"/>
              </a:rPr>
              <a:t>Verifikator atau TKMKB BPJS Kesehatan sebagai pendamping klinis: memvalidasi definisi modus, meninjau tanda, dan memberi umpan balik ke model.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5623560"/>
            <a:ext cx="11155680" cy="54864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0" i="0">
                <a:solidFill>
                  <a:srgbClr val="5F666E"/>
                </a:solidFill>
                <a:latin typeface="Segoe UI"/>
              </a:rPr>
              <a:t>Repositori dan demo: [link]. Seluruh kode, skrip replikasi, dan dokumentasi metode tersedia untuk ditinjau juri.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D36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36576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100" b="1" i="0">
                <a:solidFill>
                  <a:srgbClr val="A9C6EA"/>
                </a:solidFill>
                <a:latin typeface="Segoe UI"/>
              </a:rPr>
              <a:t>PENUTUP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10515600" cy="109728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3200" b="1" i="0">
                <a:solidFill>
                  <a:srgbClr val="FFFFFF"/>
                </a:solidFill>
                <a:latin typeface="Segoe UI"/>
              </a:rPr>
              <a:t>Deteksi lebih cerdas dimulai dari pembanding yang adil.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743200"/>
            <a:ext cx="10515600" cy="747897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500" b="0" i="0" dirty="0">
                <a:solidFill>
                  <a:srgbClr val="A9C6EA"/>
                </a:solidFill>
                <a:latin typeface="Segoe UI"/>
              </a:rPr>
              <a:t>S</a:t>
            </a:r>
            <a:r>
              <a:rPr lang="en-US" sz="1500" b="0" i="0" dirty="0">
                <a:solidFill>
                  <a:srgbClr val="A9C6EA"/>
                </a:solidFill>
                <a:latin typeface="Segoe UI"/>
              </a:rPr>
              <a:t>IDAK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membaca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pola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yang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tidak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terlihat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per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klaim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: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rujukan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yang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tidak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perlu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,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keparahan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yang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dinaikkan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,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kunjungan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yang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dipecah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, dan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pasien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yang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kembali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terlalu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cepat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.</a:t>
            </a:r>
          </a:p>
          <a:p>
            <a:pPr algn="l"/>
            <a:r>
              <a:rPr sz="1500" b="0" i="0" dirty="0" err="1">
                <a:solidFill>
                  <a:srgbClr val="A9C6EA"/>
                </a:solidFill>
                <a:latin typeface="Segoe UI"/>
              </a:rPr>
              <a:t>Empat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modul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,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satu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mesin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,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keputusan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tetap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di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tangan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 </a:t>
            </a:r>
            <a:r>
              <a:rPr sz="1500" b="0" i="0" dirty="0" err="1">
                <a:solidFill>
                  <a:srgbClr val="A9C6EA"/>
                </a:solidFill>
                <a:latin typeface="Segoe UI"/>
              </a:rPr>
              <a:t>manusia</a:t>
            </a:r>
            <a:r>
              <a:rPr sz="1500" b="0" i="0" dirty="0">
                <a:solidFill>
                  <a:srgbClr val="A9C6EA"/>
                </a:solidFill>
                <a:latin typeface="Segoe U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48056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0A2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60" y="4526280"/>
            <a:ext cx="23774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Rp 2,0–2,9 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074920"/>
            <a:ext cx="2377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A9C6EA"/>
                </a:solidFill>
                <a:latin typeface="Segoe UI"/>
              </a:rPr>
              <a:t>potensi koreksi per tahun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74720" y="448056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0A2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566160" y="4526280"/>
            <a:ext cx="23774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14–20%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5074920"/>
            <a:ext cx="2377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A9C6EA"/>
                </a:solidFill>
                <a:latin typeface="Segoe UI"/>
              </a:rPr>
              <a:t>dari defisit DJS 2025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448056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0A2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309359" y="4526280"/>
            <a:ext cx="23774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4 modul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59" y="5074920"/>
            <a:ext cx="2377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A9C6EA"/>
                </a:solidFill>
                <a:latin typeface="Segoe UI"/>
              </a:rPr>
              <a:t>#3 · #4 · #9 · #16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961120" y="4480560"/>
            <a:ext cx="2560320" cy="1097280"/>
          </a:xfrm>
          <a:prstGeom prst="roundRect">
            <a:avLst>
              <a:gd name="adj" fmla="val 8000"/>
            </a:avLst>
          </a:prstGeom>
          <a:solidFill>
            <a:srgbClr val="0A2B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052560" y="4526280"/>
            <a:ext cx="2377440" cy="594360"/>
          </a:xfrm>
          <a:prstGeom prst="rect">
            <a:avLst/>
          </a:prstGeom>
          <a:noFill/>
        </p:spPr>
        <p:txBody>
          <a:bodyPr wrap="square" lIns="45720" tIns="27432" rIns="45720" bIns="27432" anchor="ctr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Segoe UI"/>
              </a:rPr>
              <a:t>Prototype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5074920"/>
            <a:ext cx="237744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ctr"/>
            <a:r>
              <a:rPr sz="1000" b="0" i="0">
                <a:solidFill>
                  <a:srgbClr val="A9C6EA"/>
                </a:solidFill>
                <a:latin typeface="Segoe UI"/>
              </a:rPr>
              <a:t>sudah berjalan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943600"/>
            <a:ext cx="10515600" cy="457200"/>
          </a:xfrm>
          <a:prstGeom prst="rect">
            <a:avLst/>
          </a:prstGeom>
          <a:noFill/>
        </p:spPr>
        <p:txBody>
          <a:bodyPr wrap="square" lIns="45720" tIns="27432" rIns="45720" bIns="27432" anchor="t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  <a:latin typeface="Segoe UI"/>
              </a:rPr>
              <a:t>Terima kasih · [Nama Tim] · [kontak] · [link demo]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</TotalTime>
  <Words>4431</Words>
  <Application>Microsoft Office PowerPoint</Application>
  <PresentationFormat>Widescreen</PresentationFormat>
  <Paragraphs>500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Arial</vt:lpstr>
      <vt:lpstr>Calibri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Faiq Miftakhul Falakh</cp:lastModifiedBy>
  <cp:revision>1</cp:revision>
  <dcterms:created xsi:type="dcterms:W3CDTF">2013-01-27T09:14:16Z</dcterms:created>
  <dcterms:modified xsi:type="dcterms:W3CDTF">2026-09-06T09:31:12Z</dcterms:modified>
  <cp:category/>
</cp:coreProperties>
</file>